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s/slide11.xml" ContentType="application/vnd.openxmlformats-officedocument.presentationml.slide+xml"/>
  <Override PartName="/ppt/theme/theme2.xml" ContentType="application/vnd.openxmlformats-officedocument.them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4.xml" ContentType="application/vnd.openxmlformats-officedocument.presentationml.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9144000" cy="5143500" type="screen16x9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96" d="100"/>
          <a:sy n="196" d="100"/>
        </p:scale>
        <p:origin x="256" y="176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 /><Relationship Id="rId30" Type="http://schemas.openxmlformats.org/officeDocument/2006/relationships/tableStyles" Target="tableStyles.xml" /><Relationship Id="rId3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42316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83613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121497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746930-176E-C04A-FD5D-4FD959D2EE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36031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06967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7059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3412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91913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48292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71141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77654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34713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63659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41055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13186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32615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67244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728232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15201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02356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69902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5824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85374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283962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3313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37313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226910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0128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05436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58169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90324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8864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78759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80690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83386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958908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79148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70574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03353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11338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42150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678731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5720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7580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00411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99922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3290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300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09286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8849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802145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8552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55961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4009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8767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31708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36563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06392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70460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27056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6891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62748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41541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65431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6978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234731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96662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84384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986209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3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033584" name="Shape 0"/>
          <p:cNvSpPr/>
          <p:nvPr/>
        </p:nvSpPr>
        <p:spPr bwMode="auto">
          <a:xfrm>
            <a:off x="0" y="0"/>
            <a:ext cx="73152" cy="5143500"/>
          </a:xfrm>
          <a:prstGeom prst="lin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613173827" name="Shape 1"/>
          <p:cNvSpPr/>
          <p:nvPr/>
        </p:nvSpPr>
        <p:spPr bwMode="auto">
          <a:xfrm>
            <a:off x="548640" y="457200"/>
            <a:ext cx="2560320" cy="320040"/>
          </a:xfrm>
          <a:prstGeom prst="line">
            <a:avLst/>
          </a:prstGeom>
          <a:solidFill>
            <a:srgbClr val="3B82F6"/>
          </a:solidFill>
          <a:ln/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405697236" name="Text 2"/>
          <p:cNvSpPr/>
          <p:nvPr/>
        </p:nvSpPr>
        <p:spPr bwMode="auto">
          <a:xfrm>
            <a:off x="640080" y="4754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FOSDEM 2026  ·  Security Devroom</a:t>
            </a:r>
            <a:endParaRPr lang="en-US" sz="1100"/>
          </a:p>
        </p:txBody>
      </p:sp>
      <p:sp>
        <p:nvSpPr>
          <p:cNvPr id="1064577913" name="Text 3"/>
          <p:cNvSpPr/>
          <p:nvPr/>
        </p:nvSpPr>
        <p:spPr bwMode="auto">
          <a:xfrm>
            <a:off x="548640" y="14630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48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AI Security Monitoring</a:t>
            </a:r>
            <a:endParaRPr lang="en-US" sz="4800"/>
          </a:p>
        </p:txBody>
      </p:sp>
      <p:sp>
        <p:nvSpPr>
          <p:cNvPr id="2069522745" name="Text 4"/>
          <p:cNvSpPr/>
          <p:nvPr/>
        </p:nvSpPr>
        <p:spPr bwMode="auto">
          <a:xfrm>
            <a:off x="502920" y="2697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>
                <a:solidFill>
                  <a:srgbClr val="94A3B8"/>
                </a:solidFill>
                <a:latin typeface="Arial"/>
                <a:ea typeface="Arial"/>
                <a:cs typeface="Arial"/>
              </a:rPr>
              <a:t>Detecting Threats Against Production ML Systems</a:t>
            </a:r>
            <a:endParaRPr lang="en-US" sz="2000"/>
          </a:p>
        </p:txBody>
      </p:sp>
      <p:sp>
        <p:nvSpPr>
          <p:cNvPr id="1306753677" name="Shape 5"/>
          <p:cNvSpPr/>
          <p:nvPr/>
        </p:nvSpPr>
        <p:spPr bwMode="auto">
          <a:xfrm>
            <a:off x="6858000" y="1097280"/>
            <a:ext cx="2011680" cy="2011680"/>
          </a:xfrm>
          <a:prstGeom prst="line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375348669" name="Shape 6"/>
          <p:cNvSpPr/>
          <p:nvPr/>
        </p:nvSpPr>
        <p:spPr bwMode="auto">
          <a:xfrm>
            <a:off x="7132320" y="1371600"/>
            <a:ext cx="1463040" cy="1463040"/>
          </a:xfrm>
          <a:prstGeom prst="line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pic>
        <p:nvPicPr>
          <p:cNvPr id="1444953115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406640" y="1691640"/>
            <a:ext cx="822960" cy="822960"/>
          </a:xfrm>
          <a:prstGeom prst="rect">
            <a:avLst/>
          </a:prstGeom>
        </p:spPr>
      </p:pic>
      <p:sp>
        <p:nvSpPr>
          <p:cNvPr id="657805992" name="Text 7"/>
          <p:cNvSpPr/>
          <p:nvPr/>
        </p:nvSpPr>
        <p:spPr bwMode="auto">
          <a:xfrm>
            <a:off x="54864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Samuel Desseaux</a:t>
            </a:r>
            <a:endParaRPr lang="en-US" sz="1600"/>
          </a:p>
        </p:txBody>
      </p:sp>
      <p:sp>
        <p:nvSpPr>
          <p:cNvPr id="1426472281" name="Text 8"/>
          <p:cNvSpPr/>
          <p:nvPr/>
        </p:nvSpPr>
        <p:spPr bwMode="auto">
          <a:xfrm>
            <a:off x="548640" y="4389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94A3B8"/>
                </a:solidFill>
                <a:latin typeface="Arial"/>
                <a:ea typeface="Arial"/>
                <a:cs typeface="Arial"/>
              </a:rPr>
              <a:t>Founder &amp; CTO   Erythix (FR) 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855258" name="ZoneTexte 1"/>
          <p:cNvSpPr txBox="1"/>
          <p:nvPr/>
        </p:nvSpPr>
        <p:spPr bwMode="auto">
          <a:xfrm>
            <a:off x="698810" y="1144859"/>
            <a:ext cx="762743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b="1"/>
              <a:t>About me</a:t>
            </a:r>
            <a:endParaRPr/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Samuel Desseaux – Consultant and trainer</a:t>
            </a:r>
            <a:endParaRPr/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Founder</a:t>
            </a:r>
            <a:r>
              <a:rPr lang="fr-FR"/>
              <a:t> of </a:t>
            </a:r>
            <a:r>
              <a:rPr lang="fr-FR"/>
              <a:t>Erythix</a:t>
            </a:r>
            <a:r>
              <a:rPr lang="fr-FR"/>
              <a:t> (France) </a:t>
            </a:r>
            <a:r>
              <a:rPr lang="fr-FR"/>
              <a:t>created</a:t>
            </a:r>
            <a:r>
              <a:rPr lang="fr-FR"/>
              <a:t> in 2023</a:t>
            </a:r>
            <a:endParaRPr/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My</a:t>
            </a:r>
            <a:r>
              <a:rPr lang="fr-FR"/>
              <a:t> Job: </a:t>
            </a:r>
            <a:r>
              <a:rPr lang="fr-FR"/>
              <a:t>implement,improve</a:t>
            </a:r>
            <a:r>
              <a:rPr lang="fr-FR"/>
              <a:t> monitoring and </a:t>
            </a:r>
            <a:r>
              <a:rPr lang="fr-FR"/>
              <a:t>observability</a:t>
            </a:r>
            <a:r>
              <a:rPr lang="fr-FR"/>
              <a:t> on </a:t>
            </a:r>
            <a:r>
              <a:rPr lang="fr-FR"/>
              <a:t>critical</a:t>
            </a:r>
            <a:r>
              <a:rPr lang="fr-FR"/>
              <a:t> infrastructures (IT/OT, AI)</a:t>
            </a:r>
            <a:endParaRPr/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Victoria </a:t>
            </a:r>
            <a:r>
              <a:rPr lang="fr-FR"/>
              <a:t>Metrics</a:t>
            </a:r>
            <a:r>
              <a:rPr lang="fr-FR"/>
              <a:t>, Open Observe </a:t>
            </a:r>
            <a:r>
              <a:rPr lang="fr-FR"/>
              <a:t>partner</a:t>
            </a:r>
            <a:r>
              <a:rPr lang="fr-FR"/>
              <a:t> </a:t>
            </a:r>
            <a:endParaRPr/>
          </a:p>
          <a:p>
            <a:pPr>
              <a:defRPr/>
            </a:pPr>
            <a:endParaRPr lang="fr-FR"/>
          </a:p>
          <a:p>
            <a:pPr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008962" name="Shape 0"/>
          <p:cNvSpPr/>
          <p:nvPr/>
        </p:nvSpPr>
        <p:spPr bwMode="auto">
          <a:xfrm>
            <a:off x="0" y="0"/>
            <a:ext cx="73152" cy="5143500"/>
          </a:xfrm>
          <a:prstGeom prst="lin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00261048" name="Text 1"/>
          <p:cNvSpPr/>
          <p:nvPr/>
        </p:nvSpPr>
        <p:spPr bwMode="auto"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We'll Cover</a:t>
            </a:r>
            <a:endParaRPr lang="en-US" sz="3200"/>
          </a:p>
        </p:txBody>
      </p:sp>
      <p:sp>
        <p:nvSpPr>
          <p:cNvPr id="2018995400" name="Text 2"/>
          <p:cNvSpPr/>
          <p:nvPr/>
        </p:nvSpPr>
        <p:spPr bwMode="auto">
          <a:xfrm>
            <a:off x="548640" y="12801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EF4444"/>
                </a:solidFill>
                <a:latin typeface="Arial Black"/>
                <a:ea typeface="Arial Black"/>
                <a:cs typeface="Arial Black"/>
              </a:rPr>
              <a:t>01</a:t>
            </a:r>
            <a:endParaRPr lang="en-US" sz="2800"/>
          </a:p>
        </p:txBody>
      </p:sp>
      <p:sp>
        <p:nvSpPr>
          <p:cNvPr id="927020528" name="Text 3"/>
          <p:cNvSpPr/>
          <p:nvPr/>
        </p:nvSpPr>
        <p:spPr bwMode="auto">
          <a:xfrm>
            <a:off x="1325880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Problem</a:t>
            </a:r>
            <a:endParaRPr lang="en-US" sz="1600"/>
          </a:p>
        </p:txBody>
      </p:sp>
      <p:sp>
        <p:nvSpPr>
          <p:cNvPr id="2082995051" name="Text 4"/>
          <p:cNvSpPr/>
          <p:nvPr/>
        </p:nvSpPr>
        <p:spPr bwMode="auto">
          <a:xfrm>
            <a:off x="1325880" y="1645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94A3B8"/>
                </a:solidFill>
                <a:latin typeface="Arial"/>
                <a:ea typeface="Arial"/>
                <a:cs typeface="Arial"/>
              </a:rPr>
              <a:t>Why ML needs different security</a:t>
            </a:r>
            <a:endParaRPr lang="en-US" sz="1200"/>
          </a:p>
        </p:txBody>
      </p:sp>
      <p:sp>
        <p:nvSpPr>
          <p:cNvPr id="630574107" name="Shape 5"/>
          <p:cNvSpPr/>
          <p:nvPr/>
        </p:nvSpPr>
        <p:spPr bwMode="auto">
          <a:xfrm>
            <a:off x="3200400" y="1554480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90973802" name="Text 6"/>
          <p:cNvSpPr/>
          <p:nvPr/>
        </p:nvSpPr>
        <p:spPr bwMode="auto">
          <a:xfrm>
            <a:off x="3383280" y="12801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59E0B"/>
                </a:solidFill>
                <a:latin typeface="Arial Black"/>
                <a:ea typeface="Arial Black"/>
                <a:cs typeface="Arial Black"/>
              </a:rPr>
              <a:t>02</a:t>
            </a:r>
            <a:endParaRPr lang="en-US" sz="2800"/>
          </a:p>
        </p:txBody>
      </p:sp>
      <p:sp>
        <p:nvSpPr>
          <p:cNvPr id="734188435" name="Text 7"/>
          <p:cNvSpPr/>
          <p:nvPr/>
        </p:nvSpPr>
        <p:spPr bwMode="auto">
          <a:xfrm>
            <a:off x="4160519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Threat Model</a:t>
            </a:r>
            <a:endParaRPr lang="en-US" sz="1600"/>
          </a:p>
        </p:txBody>
      </p:sp>
      <p:sp>
        <p:nvSpPr>
          <p:cNvPr id="1761035621" name="Text 8"/>
          <p:cNvSpPr/>
          <p:nvPr/>
        </p:nvSpPr>
        <p:spPr bwMode="auto">
          <a:xfrm>
            <a:off x="4160519" y="1645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94A3B8"/>
                </a:solidFill>
                <a:latin typeface="Arial"/>
                <a:ea typeface="Arial"/>
                <a:cs typeface="Arial"/>
              </a:rPr>
              <a:t>Framework for ML attacks</a:t>
            </a:r>
            <a:endParaRPr lang="en-US" sz="1200"/>
          </a:p>
        </p:txBody>
      </p:sp>
      <p:sp>
        <p:nvSpPr>
          <p:cNvPr id="752203378" name="Shape 9"/>
          <p:cNvSpPr/>
          <p:nvPr/>
        </p:nvSpPr>
        <p:spPr bwMode="auto">
          <a:xfrm>
            <a:off x="6035039" y="1554480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996910020" name="Text 10"/>
          <p:cNvSpPr/>
          <p:nvPr/>
        </p:nvSpPr>
        <p:spPr bwMode="auto">
          <a:xfrm>
            <a:off x="6217920" y="12801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3B82F6"/>
                </a:solidFill>
                <a:latin typeface="Arial Black"/>
                <a:ea typeface="Arial Black"/>
                <a:cs typeface="Arial Black"/>
              </a:rPr>
              <a:t>03</a:t>
            </a:r>
            <a:endParaRPr lang="en-US" sz="2800"/>
          </a:p>
        </p:txBody>
      </p:sp>
      <p:sp>
        <p:nvSpPr>
          <p:cNvPr id="425068145" name="Text 11"/>
          <p:cNvSpPr/>
          <p:nvPr/>
        </p:nvSpPr>
        <p:spPr bwMode="auto">
          <a:xfrm>
            <a:off x="6995160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Detection Deep-Dive</a:t>
            </a:r>
            <a:endParaRPr lang="en-US" sz="1600"/>
          </a:p>
        </p:txBody>
      </p:sp>
      <p:sp>
        <p:nvSpPr>
          <p:cNvPr id="1612930146" name="Text 12"/>
          <p:cNvSpPr/>
          <p:nvPr/>
        </p:nvSpPr>
        <p:spPr bwMode="auto">
          <a:xfrm>
            <a:off x="6995160" y="1645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94A3B8"/>
                </a:solidFill>
                <a:latin typeface="Arial"/>
                <a:ea typeface="Arial"/>
                <a:cs typeface="Arial"/>
              </a:rPr>
              <a:t>Patterns &amp; metrics</a:t>
            </a:r>
            <a:endParaRPr lang="en-US" sz="1200"/>
          </a:p>
        </p:txBody>
      </p:sp>
      <p:sp>
        <p:nvSpPr>
          <p:cNvPr id="1400626306" name="Text 13"/>
          <p:cNvSpPr/>
          <p:nvPr/>
        </p:nvSpPr>
        <p:spPr bwMode="auto">
          <a:xfrm>
            <a:off x="548640" y="3017519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0B981"/>
                </a:solidFill>
                <a:latin typeface="Arial Black"/>
                <a:ea typeface="Arial Black"/>
                <a:cs typeface="Arial Black"/>
              </a:rPr>
              <a:t>04</a:t>
            </a:r>
            <a:endParaRPr lang="en-US" sz="2800"/>
          </a:p>
        </p:txBody>
      </p:sp>
      <p:sp>
        <p:nvSpPr>
          <p:cNvPr id="942968798" name="Text 14"/>
          <p:cNvSpPr/>
          <p:nvPr/>
        </p:nvSpPr>
        <p:spPr bwMode="auto">
          <a:xfrm>
            <a:off x="1325880" y="3017519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Stack</a:t>
            </a:r>
            <a:endParaRPr lang="en-US" sz="1600"/>
          </a:p>
        </p:txBody>
      </p:sp>
      <p:sp>
        <p:nvSpPr>
          <p:cNvPr id="499625792" name="Text 15"/>
          <p:cNvSpPr/>
          <p:nvPr/>
        </p:nvSpPr>
        <p:spPr bwMode="auto">
          <a:xfrm>
            <a:off x="1325880" y="3383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94A3B8"/>
                </a:solidFill>
                <a:latin typeface="Arial"/>
                <a:ea typeface="Arial"/>
                <a:cs typeface="Arial"/>
              </a:rPr>
              <a:t>VM + </a:t>
            </a:r>
            <a:r>
              <a:rPr lang="en-US" sz="1200">
                <a:solidFill>
                  <a:srgbClr val="94A3B8"/>
                </a:solidFill>
                <a:latin typeface="Arial"/>
                <a:ea typeface="Arial"/>
                <a:cs typeface="Arial"/>
              </a:rPr>
              <a:t>Otel</a:t>
            </a:r>
            <a:r>
              <a:rPr lang="en-US" sz="1200">
                <a:solidFill>
                  <a:srgbClr val="94A3B8"/>
                </a:solidFill>
                <a:latin typeface="Arial"/>
                <a:ea typeface="Arial"/>
                <a:cs typeface="Arial"/>
              </a:rPr>
              <a:t> + Grafana</a:t>
            </a:r>
            <a:endParaRPr lang="en-US" sz="1200"/>
          </a:p>
        </p:txBody>
      </p:sp>
      <p:sp>
        <p:nvSpPr>
          <p:cNvPr id="1872905301" name="Shape 16"/>
          <p:cNvSpPr/>
          <p:nvPr/>
        </p:nvSpPr>
        <p:spPr bwMode="auto">
          <a:xfrm>
            <a:off x="3200400" y="3291840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39513867" name="Text 17"/>
          <p:cNvSpPr/>
          <p:nvPr/>
        </p:nvSpPr>
        <p:spPr bwMode="auto">
          <a:xfrm>
            <a:off x="3383280" y="3017519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8B5CF6"/>
                </a:solidFill>
                <a:latin typeface="Arial Black"/>
                <a:ea typeface="Arial Black"/>
                <a:cs typeface="Arial Black"/>
              </a:rPr>
              <a:t>05</a:t>
            </a:r>
            <a:endParaRPr lang="en-US" sz="2800"/>
          </a:p>
        </p:txBody>
      </p:sp>
      <p:sp>
        <p:nvSpPr>
          <p:cNvPr id="1915481818" name="Text 18"/>
          <p:cNvSpPr/>
          <p:nvPr/>
        </p:nvSpPr>
        <p:spPr bwMode="auto">
          <a:xfrm>
            <a:off x="4160519" y="3017519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SOC Integration</a:t>
            </a:r>
            <a:endParaRPr lang="en-US" sz="1600"/>
          </a:p>
        </p:txBody>
      </p:sp>
      <p:sp>
        <p:nvSpPr>
          <p:cNvPr id="2038753" name="Text 19"/>
          <p:cNvSpPr/>
          <p:nvPr/>
        </p:nvSpPr>
        <p:spPr bwMode="auto">
          <a:xfrm>
            <a:off x="4160519" y="3383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94A3B8"/>
                </a:solidFill>
                <a:latin typeface="Arial"/>
                <a:ea typeface="Arial"/>
                <a:cs typeface="Arial"/>
              </a:rPr>
              <a:t>Connecting to security ops</a:t>
            </a:r>
            <a:endParaRPr lang="en-US" sz="1200"/>
          </a:p>
        </p:txBody>
      </p:sp>
      <p:sp>
        <p:nvSpPr>
          <p:cNvPr id="1527014206" name="Shape 20"/>
          <p:cNvSpPr/>
          <p:nvPr/>
        </p:nvSpPr>
        <p:spPr bwMode="auto">
          <a:xfrm>
            <a:off x="6035039" y="3291840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377874582" name="Text 21"/>
          <p:cNvSpPr/>
          <p:nvPr/>
        </p:nvSpPr>
        <p:spPr bwMode="auto">
          <a:xfrm>
            <a:off x="6217920" y="3017519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06B6D4"/>
                </a:solidFill>
                <a:latin typeface="Arial Black"/>
                <a:ea typeface="Arial Black"/>
                <a:cs typeface="Arial Black"/>
              </a:rPr>
              <a:t>06</a:t>
            </a:r>
            <a:endParaRPr lang="en-US" sz="2800"/>
          </a:p>
        </p:txBody>
      </p:sp>
      <p:sp>
        <p:nvSpPr>
          <p:cNvPr id="1787026532" name="Text 22"/>
          <p:cNvSpPr/>
          <p:nvPr/>
        </p:nvSpPr>
        <p:spPr bwMode="auto">
          <a:xfrm>
            <a:off x="6995160" y="3017519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 Demo</a:t>
            </a:r>
            <a:endParaRPr lang="en-US" sz="1600"/>
          </a:p>
        </p:txBody>
      </p:sp>
      <p:sp>
        <p:nvSpPr>
          <p:cNvPr id="332668504" name="Text 23"/>
          <p:cNvSpPr/>
          <p:nvPr/>
        </p:nvSpPr>
        <p:spPr bwMode="auto">
          <a:xfrm>
            <a:off x="6995160" y="3383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94A3B8"/>
                </a:solidFill>
                <a:latin typeface="Arial"/>
                <a:ea typeface="Arial"/>
                <a:cs typeface="Arial"/>
              </a:rPr>
              <a:t>Real-time attack detection</a:t>
            </a:r>
            <a:endParaRPr lang="en-US" sz="1200"/>
          </a:p>
        </p:txBody>
      </p:sp>
      <p:sp>
        <p:nvSpPr>
          <p:cNvPr id="1112028358" name="Text 24"/>
          <p:cNvSpPr/>
          <p:nvPr/>
        </p:nvSpPr>
        <p:spPr bwMode="auto">
          <a:xfrm>
            <a:off x="54864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648890" name="Shape 0"/>
          <p:cNvSpPr/>
          <p:nvPr/>
        </p:nvSpPr>
        <p:spPr bwMode="auto">
          <a:xfrm>
            <a:off x="0" y="0"/>
            <a:ext cx="73152" cy="5143500"/>
          </a:xfrm>
          <a:prstGeom prst="lin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622366134" name="Text 1"/>
          <p:cNvSpPr/>
          <p:nvPr/>
        </p:nvSpPr>
        <p:spPr bwMode="auto">
          <a:xfrm>
            <a:off x="548640" y="365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F4444"/>
                </a:solidFill>
                <a:latin typeface="Arial"/>
                <a:ea typeface="Arial"/>
                <a:cs typeface="Arial"/>
              </a:rPr>
              <a:t>The Core Question</a:t>
            </a:r>
            <a:endParaRPr lang="en-US" sz="1400"/>
          </a:p>
        </p:txBody>
      </p:sp>
      <p:sp>
        <p:nvSpPr>
          <p:cNvPr id="1164992494" name="Text 2"/>
          <p:cNvSpPr/>
          <p:nvPr/>
        </p:nvSpPr>
        <p:spPr bwMode="auto">
          <a:xfrm>
            <a:off x="548640" y="1188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>
                <a:solidFill>
                  <a:srgbClr val="E2E8F0"/>
                </a:solidFill>
                <a:latin typeface="Arial"/>
                <a:ea typeface="Arial"/>
                <a:cs typeface="Arial"/>
              </a:rPr>
              <a:t>Traditional security monitors network traffic</a:t>
            </a:r>
            <a:endParaRPr lang="en-US" sz="2800"/>
          </a:p>
          <a:p>
            <a:pPr marL="0" indent="0">
              <a:buNone/>
              <a:defRPr/>
            </a:pPr>
            <a:r>
              <a:rPr lang="en-US" sz="2800">
                <a:solidFill>
                  <a:srgbClr val="E2E8F0"/>
                </a:solidFill>
                <a:latin typeface="Arial"/>
                <a:ea typeface="Arial"/>
                <a:cs typeface="Arial"/>
              </a:rPr>
              <a:t>and system logs.</a:t>
            </a:r>
            <a:endParaRPr lang="en-US" sz="2800"/>
          </a:p>
        </p:txBody>
      </p:sp>
      <p:sp>
        <p:nvSpPr>
          <p:cNvPr id="1689473686" name="Text 3"/>
          <p:cNvSpPr/>
          <p:nvPr/>
        </p:nvSpPr>
        <p:spPr bwMode="auto">
          <a:xfrm>
            <a:off x="548640" y="22860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But who monitors the AI layer itself?</a:t>
            </a:r>
            <a:endParaRPr lang="en-US" sz="3200"/>
          </a:p>
        </p:txBody>
      </p:sp>
      <p:sp>
        <p:nvSpPr>
          <p:cNvPr id="928373808" name="Shape 4"/>
          <p:cNvSpPr/>
          <p:nvPr/>
        </p:nvSpPr>
        <p:spPr bwMode="auto">
          <a:xfrm>
            <a:off x="5943600" y="3200400"/>
            <a:ext cx="2743200" cy="457200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77942421" name="Text 5"/>
          <p:cNvSpPr/>
          <p:nvPr/>
        </p:nvSpPr>
        <p:spPr bwMode="auto">
          <a:xfrm>
            <a:off x="594360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accent4">
                    <a:lumMod val="40000"/>
                    <a:lumOff val="60000"/>
                  </a:schemeClr>
                </a:solidFill>
                <a:latin typeface="Arial"/>
                <a:ea typeface="Arial"/>
                <a:cs typeface="Arial"/>
              </a:rPr>
              <a:t>Network / Firewall</a:t>
            </a:r>
            <a:endParaRPr lang="en-US" sz="110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37317266" name="Shape 6"/>
          <p:cNvSpPr/>
          <p:nvPr/>
        </p:nvSpPr>
        <p:spPr bwMode="auto">
          <a:xfrm>
            <a:off x="5943600" y="3749040"/>
            <a:ext cx="2743200" cy="457200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12716454" name="Text 7"/>
          <p:cNvSpPr/>
          <p:nvPr/>
        </p:nvSpPr>
        <p:spPr bwMode="auto">
          <a:xfrm>
            <a:off x="5943600" y="3749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accent4">
                    <a:lumMod val="40000"/>
                    <a:lumOff val="60000"/>
                  </a:schemeClr>
                </a:solidFill>
                <a:latin typeface="Arial"/>
                <a:ea typeface="Arial"/>
                <a:cs typeface="Arial"/>
              </a:rPr>
              <a:t>System Logs / SIEM</a:t>
            </a:r>
            <a:endParaRPr lang="en-US" sz="110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91952921" name="Shape 8"/>
          <p:cNvSpPr/>
          <p:nvPr/>
        </p:nvSpPr>
        <p:spPr bwMode="auto">
          <a:xfrm>
            <a:off x="5943600" y="4297680"/>
            <a:ext cx="2743200" cy="457200"/>
          </a:xfrm>
          <a:prstGeom prst="lin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849205864" name="Text 9"/>
          <p:cNvSpPr/>
          <p:nvPr/>
        </p:nvSpPr>
        <p:spPr bwMode="auto">
          <a:xfrm>
            <a:off x="5943600" y="4297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/ ML Layer  ???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595057" name="Shape 0"/>
          <p:cNvSpPr/>
          <p:nvPr/>
        </p:nvSpPr>
        <p:spPr bwMode="auto">
          <a:xfrm>
            <a:off x="0" y="0"/>
            <a:ext cx="73152" cy="5143500"/>
          </a:xfrm>
          <a:prstGeom prst="lin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907566409" name="Text 1"/>
          <p:cNvSpPr/>
          <p:nvPr/>
        </p:nvSpPr>
        <p:spPr bwMode="auto"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Your AI Model is a New Attack Surface</a:t>
            </a:r>
            <a:endParaRPr lang="en-US" sz="2800"/>
          </a:p>
        </p:txBody>
      </p:sp>
      <p:sp>
        <p:nvSpPr>
          <p:cNvPr id="2145226601" name="Shape 2"/>
          <p:cNvSpPr/>
          <p:nvPr/>
        </p:nvSpPr>
        <p:spPr bwMode="auto">
          <a:xfrm>
            <a:off x="548640" y="1188720"/>
            <a:ext cx="2651760" cy="155448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32726916" name="Shape 3"/>
          <p:cNvSpPr/>
          <p:nvPr/>
        </p:nvSpPr>
        <p:spPr bwMode="auto">
          <a:xfrm>
            <a:off x="548640" y="1188720"/>
            <a:ext cx="2651760" cy="54864"/>
          </a:xfrm>
          <a:prstGeom prst="line">
            <a:avLst/>
          </a:prstGeom>
          <a:solidFill>
            <a:srgbClr val="EF4444"/>
          </a:solidFill>
          <a:ln/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97195843" name="Text 4"/>
          <p:cNvSpPr/>
          <p:nvPr/>
        </p:nvSpPr>
        <p:spPr bwMode="auto">
          <a:xfrm>
            <a:off x="68580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Adversarial Inputs</a:t>
            </a:r>
            <a:endParaRPr lang="en-US" sz="1300"/>
          </a:p>
        </p:txBody>
      </p:sp>
      <p:sp>
        <p:nvSpPr>
          <p:cNvPr id="1657589354" name="Text 5"/>
          <p:cNvSpPr/>
          <p:nvPr/>
        </p:nvSpPr>
        <p:spPr bwMode="auto">
          <a:xfrm>
            <a:off x="685800" y="17830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Crafted inputs that fool classifiers while appearing normal to humans</a:t>
            </a:r>
            <a:endParaRPr lang="en-US" sz="1100"/>
          </a:p>
        </p:txBody>
      </p:sp>
      <p:sp>
        <p:nvSpPr>
          <p:cNvPr id="679331783" name="Shape 6"/>
          <p:cNvSpPr/>
          <p:nvPr/>
        </p:nvSpPr>
        <p:spPr bwMode="auto">
          <a:xfrm>
            <a:off x="3383280" y="1188720"/>
            <a:ext cx="2651760" cy="155448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452175465" name="Shape 7"/>
          <p:cNvSpPr/>
          <p:nvPr/>
        </p:nvSpPr>
        <p:spPr bwMode="auto">
          <a:xfrm>
            <a:off x="3383280" y="1188720"/>
            <a:ext cx="2651760" cy="54864"/>
          </a:xfrm>
          <a:prstGeom prst="line">
            <a:avLst/>
          </a:prstGeom>
          <a:solidFill>
            <a:srgbClr val="F59E0B"/>
          </a:solidFill>
          <a:ln/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828852622" name="Text 8"/>
          <p:cNvSpPr/>
          <p:nvPr/>
        </p:nvSpPr>
        <p:spPr bwMode="auto">
          <a:xfrm>
            <a:off x="352044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Poisoning</a:t>
            </a:r>
            <a:endParaRPr lang="en-US" sz="1300"/>
          </a:p>
        </p:txBody>
      </p:sp>
      <p:sp>
        <p:nvSpPr>
          <p:cNvPr id="1609674848" name="Text 9"/>
          <p:cNvSpPr/>
          <p:nvPr/>
        </p:nvSpPr>
        <p:spPr bwMode="auto">
          <a:xfrm>
            <a:off x="3520440" y="17830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Corrupted training data creates backdoors or degrades model performance</a:t>
            </a:r>
            <a:endParaRPr lang="en-US" sz="1100"/>
          </a:p>
        </p:txBody>
      </p:sp>
      <p:sp>
        <p:nvSpPr>
          <p:cNvPr id="1273536786" name="Shape 10"/>
          <p:cNvSpPr/>
          <p:nvPr/>
        </p:nvSpPr>
        <p:spPr bwMode="auto">
          <a:xfrm>
            <a:off x="6217920" y="1188720"/>
            <a:ext cx="2651760" cy="155448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66745356" name="Shape 11"/>
          <p:cNvSpPr/>
          <p:nvPr/>
        </p:nvSpPr>
        <p:spPr bwMode="auto">
          <a:xfrm>
            <a:off x="6217920" y="1188720"/>
            <a:ext cx="2651760" cy="54864"/>
          </a:xfrm>
          <a:prstGeom prst="line">
            <a:avLst/>
          </a:prstGeom>
          <a:solidFill>
            <a:srgbClr val="8B5CF6"/>
          </a:solidFill>
          <a:ln/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91577888" name="Text 12"/>
          <p:cNvSpPr/>
          <p:nvPr/>
        </p:nvSpPr>
        <p:spPr bwMode="auto">
          <a:xfrm>
            <a:off x="635508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Prompt Injection</a:t>
            </a:r>
            <a:endParaRPr lang="en-US" sz="1300"/>
          </a:p>
        </p:txBody>
      </p:sp>
      <p:sp>
        <p:nvSpPr>
          <p:cNvPr id="1841013707" name="Text 13"/>
          <p:cNvSpPr/>
          <p:nvPr/>
        </p:nvSpPr>
        <p:spPr bwMode="auto">
          <a:xfrm>
            <a:off x="6355080" y="17830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Malicious prompts bypass safety guardrails in LLM applications</a:t>
            </a:r>
            <a:endParaRPr lang="en-US" sz="1100"/>
          </a:p>
        </p:txBody>
      </p:sp>
      <p:sp>
        <p:nvSpPr>
          <p:cNvPr id="711806300" name="Shape 14"/>
          <p:cNvSpPr/>
          <p:nvPr/>
        </p:nvSpPr>
        <p:spPr bwMode="auto">
          <a:xfrm>
            <a:off x="548640" y="3017519"/>
            <a:ext cx="2651760" cy="155448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82264288" name="Shape 15"/>
          <p:cNvSpPr/>
          <p:nvPr/>
        </p:nvSpPr>
        <p:spPr bwMode="auto">
          <a:xfrm>
            <a:off x="548640" y="3017519"/>
            <a:ext cx="2651760" cy="54864"/>
          </a:xfrm>
          <a:prstGeom prst="line">
            <a:avLst/>
          </a:prstGeom>
          <a:solidFill>
            <a:srgbClr val="3B82F6"/>
          </a:solidFill>
          <a:ln/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82820878" name="Text 16"/>
          <p:cNvSpPr/>
          <p:nvPr/>
        </p:nvSpPr>
        <p:spPr bwMode="auto">
          <a:xfrm>
            <a:off x="68580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 Extraction</a:t>
            </a:r>
            <a:endParaRPr lang="en-US" sz="1300"/>
          </a:p>
        </p:txBody>
      </p:sp>
      <p:sp>
        <p:nvSpPr>
          <p:cNvPr id="1598720596" name="Text 17"/>
          <p:cNvSpPr/>
          <p:nvPr/>
        </p:nvSpPr>
        <p:spPr bwMode="auto">
          <a:xfrm>
            <a:off x="685800" y="36118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API probing to steal proprietary models worth millions in R&amp;D</a:t>
            </a:r>
            <a:endParaRPr lang="en-US" sz="1100"/>
          </a:p>
        </p:txBody>
      </p:sp>
      <p:sp>
        <p:nvSpPr>
          <p:cNvPr id="1152713343" name="Shape 18"/>
          <p:cNvSpPr/>
          <p:nvPr/>
        </p:nvSpPr>
        <p:spPr bwMode="auto">
          <a:xfrm>
            <a:off x="3383280" y="3017519"/>
            <a:ext cx="2651760" cy="155448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40445547" name="Shape 19"/>
          <p:cNvSpPr/>
          <p:nvPr/>
        </p:nvSpPr>
        <p:spPr bwMode="auto">
          <a:xfrm>
            <a:off x="3383280" y="3017519"/>
            <a:ext cx="2651760" cy="54864"/>
          </a:xfrm>
          <a:prstGeom prst="line">
            <a:avLst/>
          </a:prstGeom>
          <a:solidFill>
            <a:srgbClr val="06B6D4"/>
          </a:solidFill>
          <a:ln/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051415267" name="Text 20"/>
          <p:cNvSpPr/>
          <p:nvPr/>
        </p:nvSpPr>
        <p:spPr bwMode="auto">
          <a:xfrm>
            <a:off x="352044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Membership Inference</a:t>
            </a:r>
            <a:endParaRPr lang="en-US" sz="1300"/>
          </a:p>
        </p:txBody>
      </p:sp>
      <p:sp>
        <p:nvSpPr>
          <p:cNvPr id="1590583586" name="Text 21"/>
          <p:cNvSpPr/>
          <p:nvPr/>
        </p:nvSpPr>
        <p:spPr bwMode="auto">
          <a:xfrm>
            <a:off x="3520440" y="36118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Reveal whether specific data points were in the training set</a:t>
            </a:r>
            <a:endParaRPr lang="en-US" sz="1100"/>
          </a:p>
        </p:txBody>
      </p:sp>
      <p:sp>
        <p:nvSpPr>
          <p:cNvPr id="1896672086" name="Shape 22"/>
          <p:cNvSpPr/>
          <p:nvPr/>
        </p:nvSpPr>
        <p:spPr bwMode="auto">
          <a:xfrm>
            <a:off x="6217920" y="3017519"/>
            <a:ext cx="2651760" cy="155448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693029883" name="Shape 23"/>
          <p:cNvSpPr/>
          <p:nvPr/>
        </p:nvSpPr>
        <p:spPr bwMode="auto">
          <a:xfrm>
            <a:off x="6217920" y="3017519"/>
            <a:ext cx="2651760" cy="54864"/>
          </a:xfrm>
          <a:prstGeom prst="line">
            <a:avLst/>
          </a:prstGeom>
          <a:solidFill>
            <a:srgbClr val="10B981"/>
          </a:solidFill>
          <a:ln/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83161974" name="Text 24"/>
          <p:cNvSpPr/>
          <p:nvPr/>
        </p:nvSpPr>
        <p:spPr bwMode="auto">
          <a:xfrm>
            <a:off x="635508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 Drift</a:t>
            </a:r>
            <a:endParaRPr lang="en-US" sz="1300"/>
          </a:p>
        </p:txBody>
      </p:sp>
      <p:sp>
        <p:nvSpPr>
          <p:cNvPr id="925806807" name="Text 25"/>
          <p:cNvSpPr/>
          <p:nvPr/>
        </p:nvSpPr>
        <p:spPr bwMode="auto">
          <a:xfrm>
            <a:off x="6355080" y="36118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Gradual performance degradation that attackers can exploit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760942" name="Shape 0"/>
          <p:cNvSpPr/>
          <p:nvPr/>
        </p:nvSpPr>
        <p:spPr bwMode="auto">
          <a:xfrm>
            <a:off x="0" y="0"/>
            <a:ext cx="73152" cy="5143500"/>
          </a:xfrm>
          <a:prstGeom prst="lin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895245630" name="Text 1"/>
          <p:cNvSpPr/>
          <p:nvPr/>
        </p:nvSpPr>
        <p:spPr bwMode="auto">
          <a:xfrm>
            <a:off x="548640" y="320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3B82F6"/>
                </a:solidFill>
                <a:latin typeface="Arial"/>
                <a:ea typeface="Arial"/>
                <a:cs typeface="Arial"/>
              </a:rPr>
              <a:t>Deep Dive</a:t>
            </a:r>
            <a:endParaRPr lang="en-US" sz="1100"/>
          </a:p>
        </p:txBody>
      </p:sp>
      <p:sp>
        <p:nvSpPr>
          <p:cNvPr id="341056263" name="Text 2"/>
          <p:cNvSpPr/>
          <p:nvPr/>
        </p:nvSpPr>
        <p:spPr bwMode="auto">
          <a:xfrm>
            <a:off x="54864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ML Systems Are Fundamentally Different</a:t>
            </a:r>
            <a:endParaRPr lang="en-US" sz="2600"/>
          </a:p>
        </p:txBody>
      </p:sp>
      <p:sp>
        <p:nvSpPr>
          <p:cNvPr id="157699964" name="Text 3"/>
          <p:cNvSpPr/>
          <p:nvPr/>
        </p:nvSpPr>
        <p:spPr bwMode="auto">
          <a:xfrm>
            <a:off x="118872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= Code</a:t>
            </a:r>
            <a:endParaRPr lang="en-US" sz="1600"/>
          </a:p>
        </p:txBody>
      </p:sp>
      <p:sp>
        <p:nvSpPr>
          <p:cNvPr id="897282339" name="Text 4"/>
          <p:cNvSpPr/>
          <p:nvPr/>
        </p:nvSpPr>
        <p:spPr bwMode="auto">
          <a:xfrm>
            <a:off x="1188720" y="164592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E2E8F0"/>
                </a:solidFill>
                <a:latin typeface="Arial"/>
                <a:ea typeface="Arial"/>
                <a:cs typeface="Arial"/>
              </a:rPr>
              <a:t>In traditional software, you review code to understand behavior. In ML, training data directly shapes logic. Poisoned data = compromised model, with no code diff to review.</a:t>
            </a:r>
            <a:endParaRPr lang="en-US" sz="1200"/>
          </a:p>
        </p:txBody>
      </p:sp>
      <p:sp>
        <p:nvSpPr>
          <p:cNvPr id="1214583560" name="Text 5"/>
          <p:cNvSpPr/>
          <p:nvPr/>
        </p:nvSpPr>
        <p:spPr bwMode="auto">
          <a:xfrm>
            <a:off x="1188720" y="2514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Opaque Logic</a:t>
            </a:r>
            <a:endParaRPr lang="en-US" sz="1600"/>
          </a:p>
        </p:txBody>
      </p:sp>
      <p:sp>
        <p:nvSpPr>
          <p:cNvPr id="314471957" name="Text 6"/>
          <p:cNvSpPr/>
          <p:nvPr/>
        </p:nvSpPr>
        <p:spPr bwMode="auto">
          <a:xfrm>
            <a:off x="1188720" y="288036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E2E8F0"/>
                </a:solidFill>
                <a:latin typeface="Arial"/>
                <a:ea typeface="Arial"/>
                <a:cs typeface="Arial"/>
              </a:rPr>
              <a:t>You can't step through a debugger with billions of parameters. There's no clear execution path. Understanding why a model made a decision is a research problem itself.</a:t>
            </a:r>
            <a:endParaRPr lang="en-US" sz="1200"/>
          </a:p>
        </p:txBody>
      </p:sp>
      <p:sp>
        <p:nvSpPr>
          <p:cNvPr id="897210213" name="Text 7"/>
          <p:cNvSpPr/>
          <p:nvPr/>
        </p:nvSpPr>
        <p:spPr bwMode="auto">
          <a:xfrm>
            <a:off x="1129247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Emergent Behavior</a:t>
            </a:r>
            <a:endParaRPr lang="en-US" sz="1600"/>
          </a:p>
        </p:txBody>
      </p:sp>
      <p:sp>
        <p:nvSpPr>
          <p:cNvPr id="1473300485" name="Text 8"/>
          <p:cNvSpPr/>
          <p:nvPr/>
        </p:nvSpPr>
        <p:spPr bwMode="auto">
          <a:xfrm>
            <a:off x="1097280" y="400050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E2E8F0"/>
                </a:solidFill>
                <a:latin typeface="Arial"/>
                <a:ea typeface="Arial"/>
                <a:cs typeface="Arial"/>
              </a:rPr>
              <a:t>Models can exhibit unexpected behaviors in production that weren't present during testing. Edge cases and distribution shifts create unpredictable responses.</a:t>
            </a:r>
            <a:endParaRPr lang="en-US" sz="1200"/>
          </a:p>
        </p:txBody>
      </p:sp>
      <p:sp>
        <p:nvSpPr>
          <p:cNvPr id="1174070678" name="Shape 9"/>
          <p:cNvSpPr/>
          <p:nvPr/>
        </p:nvSpPr>
        <p:spPr bwMode="auto">
          <a:xfrm>
            <a:off x="548640" y="4297680"/>
            <a:ext cx="8046720" cy="640080"/>
          </a:xfrm>
          <a:prstGeom prst="line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43893482" name="Text 10"/>
          <p:cNvSpPr/>
          <p:nvPr/>
        </p:nvSpPr>
        <p:spPr bwMode="auto"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E2E8F0"/>
                </a:solidFill>
                <a:latin typeface="Arial"/>
                <a:ea typeface="Arial"/>
                <a:cs typeface="Arial"/>
              </a:rPr>
              <a:t>Key Insight: You can't secure what you can't observe. ML systems need purpose-built monitoring.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1853677" name="Shape 0"/>
          <p:cNvSpPr/>
          <p:nvPr/>
        </p:nvSpPr>
        <p:spPr bwMode="auto">
          <a:xfrm>
            <a:off x="0" y="0"/>
            <a:ext cx="73152" cy="5143500"/>
          </a:xfrm>
          <a:prstGeom prst="lin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015522673" name="Text 1"/>
          <p:cNvSpPr/>
          <p:nvPr/>
        </p:nvSpPr>
        <p:spPr bwMode="auto"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Now? The Threat Landscape in 2026</a:t>
            </a:r>
            <a:endParaRPr lang="en-US" sz="2800"/>
          </a:p>
        </p:txBody>
      </p:sp>
      <p:sp>
        <p:nvSpPr>
          <p:cNvPr id="2045280740" name="Text 2"/>
          <p:cNvSpPr/>
          <p:nvPr/>
        </p:nvSpPr>
        <p:spPr bwMode="auto">
          <a:xfrm>
            <a:off x="548640" y="11887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EF4444"/>
                </a:solidFill>
                <a:latin typeface="Arial Black"/>
                <a:ea typeface="Arial Black"/>
                <a:cs typeface="Arial Black"/>
              </a:rPr>
              <a:t>#1</a:t>
            </a:r>
            <a:endParaRPr lang="en-US" sz="3200"/>
          </a:p>
        </p:txBody>
      </p:sp>
      <p:sp>
        <p:nvSpPr>
          <p:cNvPr id="1499509159" name="Text 3"/>
          <p:cNvSpPr/>
          <p:nvPr/>
        </p:nvSpPr>
        <p:spPr bwMode="auto">
          <a:xfrm>
            <a:off x="548640" y="1691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Prompt Injection</a:t>
            </a:r>
            <a:endParaRPr lang="en-US" sz="1100"/>
          </a:p>
          <a:p>
            <a:pPr marL="0" indent="0" algn="ctr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OWASP LLM Top 10</a:t>
            </a:r>
            <a:endParaRPr lang="en-US" sz="1100"/>
          </a:p>
        </p:txBody>
      </p:sp>
      <p:sp>
        <p:nvSpPr>
          <p:cNvPr id="1026452487" name="Text 4"/>
          <p:cNvSpPr/>
          <p:nvPr/>
        </p:nvSpPr>
        <p:spPr bwMode="auto">
          <a:xfrm>
            <a:off x="2926080" y="11887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F59E0B"/>
                </a:solidFill>
                <a:latin typeface="Arial Black"/>
                <a:ea typeface="Arial Black"/>
                <a:cs typeface="Arial Black"/>
              </a:rPr>
              <a:t>600+</a:t>
            </a:r>
            <a:endParaRPr lang="en-US" sz="3200"/>
          </a:p>
        </p:txBody>
      </p:sp>
      <p:sp>
        <p:nvSpPr>
          <p:cNvPr id="2003535278" name="Text 5"/>
          <p:cNvSpPr/>
          <p:nvPr/>
        </p:nvSpPr>
        <p:spPr bwMode="auto">
          <a:xfrm>
            <a:off x="2926080" y="1691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Attack Techniques</a:t>
            </a:r>
            <a:endParaRPr lang="en-US" sz="1100"/>
          </a:p>
          <a:p>
            <a:pPr marL="0" indent="0" algn="ctr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MITRE ATLAS</a:t>
            </a:r>
            <a:endParaRPr lang="en-US" sz="1100"/>
          </a:p>
        </p:txBody>
      </p:sp>
      <p:sp>
        <p:nvSpPr>
          <p:cNvPr id="636998283" name="Text 6"/>
          <p:cNvSpPr/>
          <p:nvPr/>
        </p:nvSpPr>
        <p:spPr bwMode="auto">
          <a:xfrm>
            <a:off x="5303520" y="11887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8B5CF6"/>
                </a:solidFill>
                <a:latin typeface="Arial Black"/>
                <a:ea typeface="Arial Black"/>
                <a:cs typeface="Arial Black"/>
              </a:rPr>
              <a:t>2024</a:t>
            </a:r>
            <a:endParaRPr lang="en-US" sz="3200"/>
          </a:p>
        </p:txBody>
      </p:sp>
      <p:sp>
        <p:nvSpPr>
          <p:cNvPr id="1940841481" name="Text 7"/>
          <p:cNvSpPr/>
          <p:nvPr/>
        </p:nvSpPr>
        <p:spPr bwMode="auto">
          <a:xfrm>
            <a:off x="5303520" y="1691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Model Extraction,</a:t>
            </a:r>
            <a:endParaRPr lang="en-US" sz="1100"/>
          </a:p>
          <a:p>
            <a:pPr marL="0" indent="0" algn="ctr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Jailbreaks, Leaks</a:t>
            </a:r>
            <a:endParaRPr lang="en-US" sz="1100"/>
          </a:p>
        </p:txBody>
      </p:sp>
      <p:sp>
        <p:nvSpPr>
          <p:cNvPr id="85699225" name="Text 8"/>
          <p:cNvSpPr/>
          <p:nvPr/>
        </p:nvSpPr>
        <p:spPr bwMode="auto">
          <a:xfrm>
            <a:off x="548640" y="2560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Real Incidents - This Isn't Theoretical</a:t>
            </a:r>
            <a:endParaRPr lang="en-US" sz="1600"/>
          </a:p>
        </p:txBody>
      </p:sp>
      <p:pic>
        <p:nvPicPr>
          <p:cNvPr id="1984323871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3063240"/>
            <a:ext cx="274320" cy="274320"/>
          </a:xfrm>
          <a:prstGeom prst="rect">
            <a:avLst/>
          </a:prstGeom>
        </p:spPr>
      </p:pic>
      <p:sp>
        <p:nvSpPr>
          <p:cNvPr id="1097980234" name="Text 9"/>
          <p:cNvSpPr/>
          <p:nvPr/>
        </p:nvSpPr>
        <p:spPr bwMode="auto">
          <a:xfrm>
            <a:off x="960120" y="30632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E2E8F0"/>
                </a:solidFill>
                <a:latin typeface="Arial"/>
                <a:ea typeface="Arial"/>
                <a:cs typeface="Arial"/>
              </a:rPr>
              <a:t>Model extraction attacks at Replika</a:t>
            </a:r>
            <a:endParaRPr lang="en-US" sz="1300"/>
          </a:p>
        </p:txBody>
      </p:sp>
      <p:pic>
        <p:nvPicPr>
          <p:cNvPr id="706283714" name="Image 1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3474720"/>
            <a:ext cx="274320" cy="274320"/>
          </a:xfrm>
          <a:prstGeom prst="rect">
            <a:avLst/>
          </a:prstGeom>
        </p:spPr>
      </p:pic>
      <p:sp>
        <p:nvSpPr>
          <p:cNvPr id="1619485460" name="Text 10"/>
          <p:cNvSpPr/>
          <p:nvPr/>
        </p:nvSpPr>
        <p:spPr bwMode="auto">
          <a:xfrm>
            <a:off x="960120" y="34747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E2E8F0"/>
                </a:solidFill>
                <a:latin typeface="Arial"/>
                <a:ea typeface="Arial"/>
                <a:cs typeface="Arial"/>
              </a:rPr>
              <a:t>ChatGPT jailbreaks exposing system prompts</a:t>
            </a:r>
            <a:endParaRPr lang="en-US" sz="1300"/>
          </a:p>
        </p:txBody>
      </p:sp>
      <p:pic>
        <p:nvPicPr>
          <p:cNvPr id="410518079" name="Image 2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3886200"/>
            <a:ext cx="274320" cy="274320"/>
          </a:xfrm>
          <a:prstGeom prst="rect">
            <a:avLst/>
          </a:prstGeom>
        </p:spPr>
      </p:pic>
      <p:sp>
        <p:nvSpPr>
          <p:cNvPr id="552012320" name="Text 11"/>
          <p:cNvSpPr/>
          <p:nvPr/>
        </p:nvSpPr>
        <p:spPr bwMode="auto">
          <a:xfrm>
            <a:off x="960120" y="3886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E2E8F0"/>
                </a:solidFill>
                <a:latin typeface="Arial"/>
                <a:ea typeface="Arial"/>
                <a:cs typeface="Arial"/>
              </a:rPr>
              <a:t>GitHub Copilot prompt injection via code comments</a:t>
            </a:r>
            <a:endParaRPr lang="en-US" sz="1300"/>
          </a:p>
        </p:txBody>
      </p:sp>
      <p:pic>
        <p:nvPicPr>
          <p:cNvPr id="120008603" name="Image 3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4297680"/>
            <a:ext cx="274320" cy="274320"/>
          </a:xfrm>
          <a:prstGeom prst="rect">
            <a:avLst/>
          </a:prstGeom>
        </p:spPr>
      </p:pic>
      <p:sp>
        <p:nvSpPr>
          <p:cNvPr id="751825285" name="Text 12"/>
          <p:cNvSpPr/>
          <p:nvPr/>
        </p:nvSpPr>
        <p:spPr bwMode="auto">
          <a:xfrm>
            <a:off x="960120" y="42976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E2E8F0"/>
                </a:solidFill>
                <a:latin typeface="Arial"/>
                <a:ea typeface="Arial"/>
                <a:cs typeface="Arial"/>
              </a:rPr>
              <a:t>RAG poisoning attacks in enterprise deployments</a:t>
            </a:r>
            <a:endParaRPr lang="en-US" sz="1300"/>
          </a:p>
        </p:txBody>
      </p:sp>
      <p:sp>
        <p:nvSpPr>
          <p:cNvPr id="2066323799" name="Shape 13"/>
          <p:cNvSpPr/>
          <p:nvPr/>
        </p:nvSpPr>
        <p:spPr bwMode="auto">
          <a:xfrm>
            <a:off x="5943600" y="2926080"/>
            <a:ext cx="2743200" cy="173736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573711694" name="Text 14"/>
          <p:cNvSpPr/>
          <p:nvPr/>
        </p:nvSpPr>
        <p:spPr bwMode="auto">
          <a:xfrm>
            <a:off x="6080760" y="3063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Reference Frameworks</a:t>
            </a:r>
            <a:endParaRPr lang="en-US" sz="1200"/>
          </a:p>
        </p:txBody>
      </p:sp>
      <p:sp>
        <p:nvSpPr>
          <p:cNvPr id="1797825339" name="Text 15"/>
          <p:cNvSpPr/>
          <p:nvPr/>
        </p:nvSpPr>
        <p:spPr bwMode="auto">
          <a:xfrm>
            <a:off x="6080760" y="33832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OWASP Top 10 for LLM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owasp.org/llm-top-10</a:t>
            </a:r>
            <a:endParaRPr lang="en-US" sz="1000"/>
          </a:p>
          <a:p>
            <a:pPr marL="0" indent="0">
              <a:buNone/>
              <a:defRPr/>
            </a:pP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MITRE ATLAS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atlas.mitre.org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900252" name="Shape 0"/>
          <p:cNvSpPr/>
          <p:nvPr/>
        </p:nvSpPr>
        <p:spPr bwMode="auto">
          <a:xfrm>
            <a:off x="0" y="0"/>
            <a:ext cx="73152" cy="5143500"/>
          </a:xfrm>
          <a:prstGeom prst="lin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292601153" name="Text 1"/>
          <p:cNvSpPr/>
          <p:nvPr/>
        </p:nvSpPr>
        <p:spPr bwMode="auto">
          <a:xfrm>
            <a:off x="548640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8B5CF6"/>
                </a:solidFill>
                <a:latin typeface="Arial Black"/>
                <a:ea typeface="Arial Black"/>
                <a:cs typeface="Arial Black"/>
              </a:rPr>
              <a:t>02</a:t>
            </a:r>
            <a:endParaRPr lang="en-US" sz="2400"/>
          </a:p>
        </p:txBody>
      </p:sp>
      <p:sp>
        <p:nvSpPr>
          <p:cNvPr id="132640113" name="Text 2"/>
          <p:cNvSpPr/>
          <p:nvPr/>
        </p:nvSpPr>
        <p:spPr bwMode="auto">
          <a:xfrm>
            <a:off x="118872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Threat Model Framework for ML Systems</a:t>
            </a:r>
            <a:endParaRPr lang="en-US" sz="2400"/>
          </a:p>
        </p:txBody>
      </p:sp>
      <p:sp>
        <p:nvSpPr>
          <p:cNvPr id="591690869" name="Shape 3"/>
          <p:cNvSpPr/>
          <p:nvPr/>
        </p:nvSpPr>
        <p:spPr bwMode="auto">
          <a:xfrm>
            <a:off x="548640" y="1097280"/>
            <a:ext cx="1920240" cy="1005840"/>
          </a:xfrm>
          <a:prstGeom prst="line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800232527" name="Text 4"/>
          <p:cNvSpPr/>
          <p:nvPr/>
        </p:nvSpPr>
        <p:spPr bwMode="auto">
          <a:xfrm>
            <a:off x="640080" y="1188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Ingestion</a:t>
            </a:r>
            <a:endParaRPr lang="en-US" sz="1200"/>
          </a:p>
        </p:txBody>
      </p:sp>
      <p:sp>
        <p:nvSpPr>
          <p:cNvPr id="440422626" name="Text 5"/>
          <p:cNvSpPr/>
          <p:nvPr/>
        </p:nvSpPr>
        <p:spPr bwMode="auto">
          <a:xfrm>
            <a:off x="640080" y="15544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Poisoning, Supply chain</a:t>
            </a:r>
            <a:endParaRPr lang="en-US" sz="1000"/>
          </a:p>
        </p:txBody>
      </p:sp>
      <p:sp>
        <p:nvSpPr>
          <p:cNvPr id="1535105929" name="Text 6"/>
          <p:cNvSpPr/>
          <p:nvPr/>
        </p:nvSpPr>
        <p:spPr bwMode="auto">
          <a:xfrm>
            <a:off x="2468880" y="1371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>
                <a:solidFill>
                  <a:srgbClr val="94A3B8"/>
                </a:solidFill>
                <a:latin typeface="Arial"/>
                <a:ea typeface="Arial"/>
                <a:cs typeface="Arial"/>
              </a:rPr>
              <a:t>→</a:t>
            </a:r>
            <a:endParaRPr lang="en-US" sz="1800"/>
          </a:p>
        </p:txBody>
      </p:sp>
      <p:sp>
        <p:nvSpPr>
          <p:cNvPr id="1784379754" name="Shape 7"/>
          <p:cNvSpPr/>
          <p:nvPr/>
        </p:nvSpPr>
        <p:spPr bwMode="auto">
          <a:xfrm>
            <a:off x="2743200" y="1097280"/>
            <a:ext cx="1920240" cy="1005840"/>
          </a:xfrm>
          <a:prstGeom prst="line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679525226" name="Text 8"/>
          <p:cNvSpPr/>
          <p:nvPr/>
        </p:nvSpPr>
        <p:spPr bwMode="auto">
          <a:xfrm>
            <a:off x="2834640" y="1188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Training</a:t>
            </a:r>
            <a:endParaRPr lang="en-US" sz="1200"/>
          </a:p>
        </p:txBody>
      </p:sp>
      <p:sp>
        <p:nvSpPr>
          <p:cNvPr id="1978189069" name="Text 9"/>
          <p:cNvSpPr/>
          <p:nvPr/>
        </p:nvSpPr>
        <p:spPr bwMode="auto">
          <a:xfrm>
            <a:off x="2834640" y="15544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Backdoors, Gradient attacks</a:t>
            </a:r>
            <a:endParaRPr lang="en-US" sz="1000"/>
          </a:p>
        </p:txBody>
      </p:sp>
      <p:sp>
        <p:nvSpPr>
          <p:cNvPr id="1656320502" name="Text 10"/>
          <p:cNvSpPr/>
          <p:nvPr/>
        </p:nvSpPr>
        <p:spPr bwMode="auto">
          <a:xfrm>
            <a:off x="4663440" y="1371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>
                <a:solidFill>
                  <a:srgbClr val="94A3B8"/>
                </a:solidFill>
                <a:latin typeface="Arial"/>
                <a:ea typeface="Arial"/>
                <a:cs typeface="Arial"/>
              </a:rPr>
              <a:t>→</a:t>
            </a:r>
            <a:endParaRPr lang="en-US" sz="1800"/>
          </a:p>
        </p:txBody>
      </p:sp>
      <p:sp>
        <p:nvSpPr>
          <p:cNvPr id="1631424382" name="Shape 11"/>
          <p:cNvSpPr/>
          <p:nvPr/>
        </p:nvSpPr>
        <p:spPr bwMode="auto">
          <a:xfrm>
            <a:off x="4937760" y="1097280"/>
            <a:ext cx="1920240" cy="1005840"/>
          </a:xfrm>
          <a:prstGeom prst="line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823872576" name="Text 12"/>
          <p:cNvSpPr/>
          <p:nvPr/>
        </p:nvSpPr>
        <p:spPr bwMode="auto">
          <a:xfrm>
            <a:off x="5029200" y="1188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 Serving</a:t>
            </a:r>
            <a:endParaRPr lang="en-US" sz="1200"/>
          </a:p>
        </p:txBody>
      </p:sp>
      <p:sp>
        <p:nvSpPr>
          <p:cNvPr id="1204117221" name="Text 13"/>
          <p:cNvSpPr/>
          <p:nvPr/>
        </p:nvSpPr>
        <p:spPr bwMode="auto">
          <a:xfrm>
            <a:off x="5029200" y="15544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Adversarial, Extraction</a:t>
            </a:r>
            <a:endParaRPr lang="en-US" sz="1000"/>
          </a:p>
        </p:txBody>
      </p:sp>
      <p:sp>
        <p:nvSpPr>
          <p:cNvPr id="455465589" name="Text 14"/>
          <p:cNvSpPr/>
          <p:nvPr/>
        </p:nvSpPr>
        <p:spPr bwMode="auto">
          <a:xfrm>
            <a:off x="6858000" y="1371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>
                <a:solidFill>
                  <a:srgbClr val="94A3B8"/>
                </a:solidFill>
                <a:latin typeface="Arial"/>
                <a:ea typeface="Arial"/>
                <a:cs typeface="Arial"/>
              </a:rPr>
              <a:t>→</a:t>
            </a:r>
            <a:endParaRPr lang="en-US" sz="1800"/>
          </a:p>
        </p:txBody>
      </p:sp>
      <p:sp>
        <p:nvSpPr>
          <p:cNvPr id="506765959" name="Shape 15"/>
          <p:cNvSpPr/>
          <p:nvPr/>
        </p:nvSpPr>
        <p:spPr bwMode="auto">
          <a:xfrm>
            <a:off x="7132320" y="1097280"/>
            <a:ext cx="1920240" cy="1005840"/>
          </a:xfrm>
          <a:prstGeom prst="line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16188701" name="Text 16"/>
          <p:cNvSpPr/>
          <p:nvPr/>
        </p:nvSpPr>
        <p:spPr bwMode="auto">
          <a:xfrm>
            <a:off x="7223760" y="1188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LLM Apps</a:t>
            </a:r>
            <a:endParaRPr lang="en-US" sz="1200"/>
          </a:p>
        </p:txBody>
      </p:sp>
      <p:sp>
        <p:nvSpPr>
          <p:cNvPr id="602120682" name="Text 17"/>
          <p:cNvSpPr/>
          <p:nvPr/>
        </p:nvSpPr>
        <p:spPr bwMode="auto">
          <a:xfrm>
            <a:off x="7223760" y="15544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Injection, Jailbreak</a:t>
            </a:r>
            <a:endParaRPr lang="en-US" sz="1000"/>
          </a:p>
        </p:txBody>
      </p:sp>
      <p:sp>
        <p:nvSpPr>
          <p:cNvPr id="552982526" name="Text 18"/>
          <p:cNvSpPr/>
          <p:nvPr/>
        </p:nvSpPr>
        <p:spPr bwMode="auto">
          <a:xfrm>
            <a:off x="54864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4 Questions to Answer</a:t>
            </a:r>
            <a:endParaRPr lang="en-US" sz="1600"/>
          </a:p>
        </p:txBody>
      </p:sp>
      <p:sp>
        <p:nvSpPr>
          <p:cNvPr id="1954220386" name="Text 19"/>
          <p:cNvSpPr/>
          <p:nvPr/>
        </p:nvSpPr>
        <p:spPr bwMode="auto">
          <a:xfrm>
            <a:off x="556818" y="283687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3B82F6"/>
                </a:solidFill>
                <a:latin typeface="Arial Black"/>
                <a:ea typeface="Arial Black"/>
                <a:cs typeface="Arial Black"/>
              </a:rPr>
              <a:t>1.</a:t>
            </a:r>
            <a:endParaRPr lang="en-US" sz="1800"/>
          </a:p>
        </p:txBody>
      </p:sp>
      <p:sp>
        <p:nvSpPr>
          <p:cNvPr id="692657972" name="Text 20"/>
          <p:cNvSpPr/>
          <p:nvPr/>
        </p:nvSpPr>
        <p:spPr bwMode="auto">
          <a:xfrm>
            <a:off x="914400" y="273799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ASSETS</a:t>
            </a:r>
            <a:endParaRPr lang="en-US" sz="1300"/>
          </a:p>
        </p:txBody>
      </p:sp>
      <p:sp>
        <p:nvSpPr>
          <p:cNvPr id="965781320" name="Text 21"/>
          <p:cNvSpPr/>
          <p:nvPr/>
        </p:nvSpPr>
        <p:spPr bwMode="auto">
          <a:xfrm>
            <a:off x="914400" y="31546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What are we protecting? Model IP? Training data privacy? Prediction integrity?</a:t>
            </a:r>
            <a:endParaRPr lang="en-US" sz="1100"/>
          </a:p>
        </p:txBody>
      </p:sp>
      <p:sp>
        <p:nvSpPr>
          <p:cNvPr id="2099711443" name="Text 22"/>
          <p:cNvSpPr/>
          <p:nvPr/>
        </p:nvSpPr>
        <p:spPr bwMode="auto">
          <a:xfrm>
            <a:off x="4846320" y="28346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3B82F6"/>
                </a:solidFill>
                <a:latin typeface="Arial Black"/>
                <a:ea typeface="Arial Black"/>
                <a:cs typeface="Arial Black"/>
              </a:rPr>
              <a:t>2.</a:t>
            </a:r>
            <a:endParaRPr lang="en-US" sz="1800"/>
          </a:p>
        </p:txBody>
      </p:sp>
      <p:sp>
        <p:nvSpPr>
          <p:cNvPr id="24227224" name="Text 23"/>
          <p:cNvSpPr/>
          <p:nvPr/>
        </p:nvSpPr>
        <p:spPr bwMode="auto">
          <a:xfrm>
            <a:off x="5212080" y="28346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ADVERSARIES</a:t>
            </a:r>
            <a:endParaRPr lang="en-US" sz="1300"/>
          </a:p>
        </p:txBody>
      </p:sp>
      <p:sp>
        <p:nvSpPr>
          <p:cNvPr id="1653958092" name="Text 24"/>
          <p:cNvSpPr/>
          <p:nvPr/>
        </p:nvSpPr>
        <p:spPr bwMode="auto">
          <a:xfrm>
            <a:off x="5212080" y="31546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Who attacks? External hackers? Malicious insiders? Compromised vendors?</a:t>
            </a:r>
            <a:endParaRPr lang="en-US" sz="1100"/>
          </a:p>
        </p:txBody>
      </p:sp>
      <p:sp>
        <p:nvSpPr>
          <p:cNvPr id="1210627661" name="Text 25"/>
          <p:cNvSpPr/>
          <p:nvPr/>
        </p:nvSpPr>
        <p:spPr bwMode="auto">
          <a:xfrm>
            <a:off x="548640" y="38862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3B82F6"/>
                </a:solidFill>
                <a:latin typeface="Arial Black"/>
                <a:ea typeface="Arial Black"/>
                <a:cs typeface="Arial Black"/>
              </a:rPr>
              <a:t>3.</a:t>
            </a:r>
            <a:endParaRPr lang="en-US" sz="1800"/>
          </a:p>
        </p:txBody>
      </p:sp>
      <p:sp>
        <p:nvSpPr>
          <p:cNvPr id="453458037" name="Text 26"/>
          <p:cNvSpPr/>
          <p:nvPr/>
        </p:nvSpPr>
        <p:spPr bwMode="auto">
          <a:xfrm>
            <a:off x="914400" y="3886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VECTORS</a:t>
            </a:r>
            <a:endParaRPr lang="en-US" sz="1300"/>
          </a:p>
        </p:txBody>
      </p:sp>
      <p:sp>
        <p:nvSpPr>
          <p:cNvPr id="1282631357" name="Text 27"/>
          <p:cNvSpPr/>
          <p:nvPr/>
        </p:nvSpPr>
        <p:spPr bwMode="auto">
          <a:xfrm>
            <a:off x="914400" y="4206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How do they attack? API access? Training pipeline? Supply chain?</a:t>
            </a:r>
            <a:endParaRPr lang="en-US" sz="1100"/>
          </a:p>
        </p:txBody>
      </p:sp>
      <p:sp>
        <p:nvSpPr>
          <p:cNvPr id="406179319" name="Text 28"/>
          <p:cNvSpPr/>
          <p:nvPr/>
        </p:nvSpPr>
        <p:spPr bwMode="auto">
          <a:xfrm>
            <a:off x="4846320" y="38862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3B82F6"/>
                </a:solidFill>
                <a:latin typeface="Arial Black"/>
                <a:ea typeface="Arial Black"/>
                <a:cs typeface="Arial Black"/>
              </a:rPr>
              <a:t>4.</a:t>
            </a:r>
            <a:endParaRPr lang="en-US" sz="1800"/>
          </a:p>
        </p:txBody>
      </p:sp>
      <p:sp>
        <p:nvSpPr>
          <p:cNvPr id="1786758537" name="Text 29"/>
          <p:cNvSpPr/>
          <p:nvPr/>
        </p:nvSpPr>
        <p:spPr bwMode="auto">
          <a:xfrm>
            <a:off x="5212080" y="3886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SIGNALS</a:t>
            </a:r>
            <a:endParaRPr lang="en-US" sz="1300"/>
          </a:p>
        </p:txBody>
      </p:sp>
      <p:sp>
        <p:nvSpPr>
          <p:cNvPr id="720022967" name="Text 30"/>
          <p:cNvSpPr/>
          <p:nvPr/>
        </p:nvSpPr>
        <p:spPr bwMode="auto">
          <a:xfrm>
            <a:off x="5212080" y="4206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What detects attacks? Metrics, logs, traces specific to ML?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72076" name="Shape 0"/>
          <p:cNvSpPr/>
          <p:nvPr/>
        </p:nvSpPr>
        <p:spPr bwMode="auto">
          <a:xfrm>
            <a:off x="0" y="0"/>
            <a:ext cx="73152" cy="5143500"/>
          </a:xfrm>
          <a:prstGeom prst="lin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413927438" name="Text 1"/>
          <p:cNvSpPr/>
          <p:nvPr/>
        </p:nvSpPr>
        <p:spPr bwMode="auto">
          <a:xfrm>
            <a:off x="548640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3B82F6"/>
                </a:solidFill>
                <a:latin typeface="Arial Black"/>
                <a:ea typeface="Arial Black"/>
                <a:cs typeface="Arial Black"/>
              </a:rPr>
              <a:t>03</a:t>
            </a:r>
            <a:endParaRPr lang="en-US" sz="2400"/>
          </a:p>
        </p:txBody>
      </p:sp>
      <p:sp>
        <p:nvSpPr>
          <p:cNvPr id="677583566" name="Text 2"/>
          <p:cNvSpPr/>
          <p:nvPr/>
        </p:nvSpPr>
        <p:spPr bwMode="auto">
          <a:xfrm>
            <a:off x="118872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Detection Patterns Deep-Dive</a:t>
            </a:r>
            <a:endParaRPr lang="en-US" sz="2400"/>
          </a:p>
        </p:txBody>
      </p:sp>
      <p:sp>
        <p:nvSpPr>
          <p:cNvPr id="1613963791" name="Text 3"/>
          <p:cNvSpPr/>
          <p:nvPr/>
        </p:nvSpPr>
        <p:spPr bwMode="auto"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E2E8F0"/>
                </a:solidFill>
                <a:latin typeface="Arial"/>
                <a:ea typeface="Arial"/>
                <a:cs typeface="Arial"/>
              </a:rPr>
              <a:t>We'll cover 3 detection patterns, each with:</a:t>
            </a:r>
            <a:endParaRPr lang="en-US" sz="1600"/>
          </a:p>
        </p:txBody>
      </p:sp>
      <p:sp>
        <p:nvSpPr>
          <p:cNvPr id="1167726306" name="Shape 4"/>
          <p:cNvSpPr/>
          <p:nvPr/>
        </p:nvSpPr>
        <p:spPr bwMode="auto">
          <a:xfrm>
            <a:off x="548640" y="1554480"/>
            <a:ext cx="8046720" cy="91440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00305772" name="Shape 5"/>
          <p:cNvSpPr/>
          <p:nvPr/>
        </p:nvSpPr>
        <p:spPr bwMode="auto">
          <a:xfrm>
            <a:off x="548640" y="1554480"/>
            <a:ext cx="54864" cy="914400"/>
          </a:xfrm>
          <a:prstGeom prst="line">
            <a:avLst/>
          </a:prstGeom>
          <a:solidFill>
            <a:srgbClr val="3B82F6"/>
          </a:solidFill>
          <a:ln/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076331481" name="Text 6"/>
          <p:cNvSpPr/>
          <p:nvPr/>
        </p:nvSpPr>
        <p:spPr bwMode="auto">
          <a:xfrm>
            <a:off x="777240" y="1691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3B82F6"/>
                </a:solidFill>
                <a:latin typeface="Arial"/>
                <a:ea typeface="Arial"/>
                <a:cs typeface="Arial"/>
              </a:rPr>
              <a:t>Pattern 1</a:t>
            </a:r>
            <a:endParaRPr lang="en-US" sz="1200"/>
          </a:p>
        </p:txBody>
      </p:sp>
      <p:sp>
        <p:nvSpPr>
          <p:cNvPr id="961940609" name="Text 7"/>
          <p:cNvSpPr/>
          <p:nvPr/>
        </p:nvSpPr>
        <p:spPr bwMode="auto">
          <a:xfrm>
            <a:off x="77724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Adversarial Input Detection</a:t>
            </a:r>
            <a:endParaRPr lang="en-US" sz="1500"/>
          </a:p>
        </p:txBody>
      </p:sp>
      <p:sp>
        <p:nvSpPr>
          <p:cNvPr id="584972333" name="Text 8"/>
          <p:cNvSpPr/>
          <p:nvPr/>
        </p:nvSpPr>
        <p:spPr bwMode="auto">
          <a:xfrm>
            <a:off x="457200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94A3B8"/>
                </a:solidFill>
                <a:latin typeface="Arial"/>
                <a:ea typeface="Arial"/>
                <a:cs typeface="Arial"/>
              </a:rPr>
              <a:t>Detect crafted inputs designed to fool your model</a:t>
            </a:r>
            <a:endParaRPr lang="en-US" sz="1200"/>
          </a:p>
        </p:txBody>
      </p:sp>
      <p:sp>
        <p:nvSpPr>
          <p:cNvPr id="570316460" name="Shape 9"/>
          <p:cNvSpPr/>
          <p:nvPr/>
        </p:nvSpPr>
        <p:spPr bwMode="auto">
          <a:xfrm>
            <a:off x="548640" y="2651760"/>
            <a:ext cx="8046720" cy="91440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1136094" name="Shape 10"/>
          <p:cNvSpPr/>
          <p:nvPr/>
        </p:nvSpPr>
        <p:spPr bwMode="auto">
          <a:xfrm>
            <a:off x="548640" y="2651760"/>
            <a:ext cx="54864" cy="914400"/>
          </a:xfrm>
          <a:prstGeom prst="line">
            <a:avLst/>
          </a:prstGeom>
          <a:solidFill>
            <a:srgbClr val="3B82F6"/>
          </a:solidFill>
          <a:ln/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24869150" name="Text 11"/>
          <p:cNvSpPr/>
          <p:nvPr/>
        </p:nvSpPr>
        <p:spPr bwMode="auto">
          <a:xfrm>
            <a:off x="777240" y="2788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3B82F6"/>
                </a:solidFill>
                <a:latin typeface="Arial"/>
                <a:ea typeface="Arial"/>
                <a:cs typeface="Arial"/>
              </a:rPr>
              <a:t>Pattern 2</a:t>
            </a:r>
            <a:endParaRPr lang="en-US" sz="1200"/>
          </a:p>
        </p:txBody>
      </p:sp>
      <p:sp>
        <p:nvSpPr>
          <p:cNvPr id="2017966557" name="Text 12"/>
          <p:cNvSpPr/>
          <p:nvPr/>
        </p:nvSpPr>
        <p:spPr bwMode="auto">
          <a:xfrm>
            <a:off x="77724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 Behavior Monitoring</a:t>
            </a:r>
            <a:endParaRPr lang="en-US" sz="1500"/>
          </a:p>
        </p:txBody>
      </p:sp>
      <p:sp>
        <p:nvSpPr>
          <p:cNvPr id="549527686" name="Text 13"/>
          <p:cNvSpPr/>
          <p:nvPr/>
        </p:nvSpPr>
        <p:spPr bwMode="auto">
          <a:xfrm>
            <a:off x="4572000" y="29260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94A3B8"/>
                </a:solidFill>
                <a:latin typeface="Arial"/>
                <a:ea typeface="Arial"/>
                <a:cs typeface="Arial"/>
              </a:rPr>
              <a:t>Detect poisoning and extraction through behavior drift</a:t>
            </a:r>
            <a:endParaRPr lang="en-US" sz="1200"/>
          </a:p>
        </p:txBody>
      </p:sp>
      <p:sp>
        <p:nvSpPr>
          <p:cNvPr id="508467313" name="Shape 14"/>
          <p:cNvSpPr/>
          <p:nvPr/>
        </p:nvSpPr>
        <p:spPr bwMode="auto">
          <a:xfrm>
            <a:off x="548640" y="3749040"/>
            <a:ext cx="8046720" cy="91440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45795770" name="Shape 15"/>
          <p:cNvSpPr/>
          <p:nvPr/>
        </p:nvSpPr>
        <p:spPr bwMode="auto">
          <a:xfrm>
            <a:off x="548640" y="3749040"/>
            <a:ext cx="54864" cy="914400"/>
          </a:xfrm>
          <a:prstGeom prst="line">
            <a:avLst/>
          </a:prstGeom>
          <a:solidFill>
            <a:srgbClr val="3B82F6"/>
          </a:solidFill>
          <a:ln/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92336916" name="Text 16"/>
          <p:cNvSpPr/>
          <p:nvPr/>
        </p:nvSpPr>
        <p:spPr bwMode="auto">
          <a:xfrm>
            <a:off x="777240" y="3886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3B82F6"/>
                </a:solidFill>
                <a:latin typeface="Arial"/>
                <a:ea typeface="Arial"/>
                <a:cs typeface="Arial"/>
              </a:rPr>
              <a:t>Pattern 3</a:t>
            </a:r>
            <a:endParaRPr lang="en-US" sz="1200"/>
          </a:p>
        </p:txBody>
      </p:sp>
      <p:sp>
        <p:nvSpPr>
          <p:cNvPr id="1650332991" name="Text 17"/>
          <p:cNvSpPr/>
          <p:nvPr/>
        </p:nvSpPr>
        <p:spPr bwMode="auto">
          <a:xfrm>
            <a:off x="777240" y="4160519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LLM-Specific Security</a:t>
            </a:r>
            <a:endParaRPr lang="en-US" sz="1500"/>
          </a:p>
        </p:txBody>
      </p:sp>
      <p:sp>
        <p:nvSpPr>
          <p:cNvPr id="1626870014" name="Text 18"/>
          <p:cNvSpPr/>
          <p:nvPr/>
        </p:nvSpPr>
        <p:spPr bwMode="auto">
          <a:xfrm>
            <a:off x="4572000" y="4023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94A3B8"/>
                </a:solidFill>
                <a:latin typeface="Arial"/>
                <a:ea typeface="Arial"/>
                <a:cs typeface="Arial"/>
              </a:rPr>
              <a:t>Prompt injection, jailbreaks, data extraction</a:t>
            </a:r>
            <a:endParaRPr lang="en-US" sz="1200"/>
          </a:p>
        </p:txBody>
      </p:sp>
      <p:sp>
        <p:nvSpPr>
          <p:cNvPr id="1005501218" name="Text 19"/>
          <p:cNvSpPr/>
          <p:nvPr/>
        </p:nvSpPr>
        <p:spPr bwMode="auto">
          <a:xfrm>
            <a:off x="54864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94A3B8"/>
                </a:solidFill>
                <a:latin typeface="Arial"/>
                <a:ea typeface="Arial"/>
                <a:cs typeface="Arial"/>
              </a:rPr>
              <a:t>Each pattern includes: Detection signals · VM metrics · Alert rules · Investigation queries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8990466" name="Shape 0"/>
          <p:cNvSpPr/>
          <p:nvPr/>
        </p:nvSpPr>
        <p:spPr bwMode="auto">
          <a:xfrm>
            <a:off x="0" y="0"/>
            <a:ext cx="73152" cy="5143500"/>
          </a:xfrm>
          <a:prstGeom prst="lin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060686492" name="Text 1"/>
          <p:cNvSpPr/>
          <p:nvPr/>
        </p:nvSpPr>
        <p:spPr bwMode="auto">
          <a:xfrm>
            <a:off x="548640" y="320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EF4444"/>
                </a:solidFill>
                <a:latin typeface="Arial"/>
                <a:ea typeface="Arial"/>
                <a:cs typeface="Arial"/>
              </a:rPr>
              <a:t>Pattern 1</a:t>
            </a:r>
            <a:endParaRPr lang="en-US" sz="1100"/>
          </a:p>
        </p:txBody>
      </p:sp>
      <p:sp>
        <p:nvSpPr>
          <p:cNvPr id="968022529" name="Text 2"/>
          <p:cNvSpPr/>
          <p:nvPr/>
        </p:nvSpPr>
        <p:spPr bwMode="auto"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Adversarial Input Detection</a:t>
            </a:r>
            <a:endParaRPr lang="en-US" sz="2600"/>
          </a:p>
        </p:txBody>
      </p:sp>
      <p:sp>
        <p:nvSpPr>
          <p:cNvPr id="783421031" name="Text 3"/>
          <p:cNvSpPr/>
          <p:nvPr/>
        </p:nvSpPr>
        <p:spPr bwMode="auto"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94A3B8"/>
                </a:solidFill>
                <a:latin typeface="Arial"/>
                <a:ea typeface="Arial"/>
                <a:cs typeface="Arial"/>
              </a:rPr>
              <a:t>Goal: Detect inputs crafted to fool your model while appearing normal to humans</a:t>
            </a:r>
            <a:endParaRPr lang="en-US" sz="1400"/>
          </a:p>
        </p:txBody>
      </p:sp>
      <p:sp>
        <p:nvSpPr>
          <p:cNvPr id="648422087" name="Text 4"/>
          <p:cNvSpPr/>
          <p:nvPr/>
        </p:nvSpPr>
        <p:spPr bwMode="auto">
          <a:xfrm>
            <a:off x="54864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Key Insight</a:t>
            </a:r>
            <a:endParaRPr lang="en-US" sz="1400"/>
          </a:p>
        </p:txBody>
      </p:sp>
      <p:sp>
        <p:nvSpPr>
          <p:cNvPr id="856772877" name="Shape 5"/>
          <p:cNvSpPr/>
          <p:nvPr/>
        </p:nvSpPr>
        <p:spPr bwMode="auto">
          <a:xfrm>
            <a:off x="548640" y="1920240"/>
            <a:ext cx="3840480" cy="237744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286838570" name="Text 6"/>
          <p:cNvSpPr/>
          <p:nvPr/>
        </p:nvSpPr>
        <p:spPr bwMode="auto">
          <a:xfrm>
            <a:off x="685800" y="2057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Adversarial inputs have a signature:</a:t>
            </a:r>
            <a:endParaRPr lang="en-US" sz="1200"/>
          </a:p>
        </p:txBody>
      </p:sp>
      <p:sp>
        <p:nvSpPr>
          <p:cNvPr id="153947346" name="Text 7"/>
          <p:cNvSpPr/>
          <p:nvPr/>
        </p:nvSpPr>
        <p:spPr bwMode="auto">
          <a:xfrm>
            <a:off x="914400" y="2468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EF4444"/>
                </a:solidFill>
                <a:latin typeface="Arial"/>
                <a:ea typeface="Arial"/>
                <a:cs typeface="Arial"/>
              </a:rPr>
              <a:t>High Confidence</a:t>
            </a:r>
            <a:endParaRPr lang="en-US" sz="1600"/>
          </a:p>
          <a:p>
            <a:pPr marL="0" indent="0" algn="ctr">
              <a:buNone/>
              <a:defRPr/>
            </a:pPr>
            <a:r>
              <a:rPr lang="en-US" sz="1600" b="1">
                <a:solidFill>
                  <a:srgbClr val="EF4444"/>
                </a:solidFill>
                <a:latin typeface="Arial"/>
                <a:ea typeface="Arial"/>
                <a:cs typeface="Arial"/>
              </a:rPr>
              <a:t>+</a:t>
            </a:r>
            <a:endParaRPr lang="en-US" sz="1600"/>
          </a:p>
          <a:p>
            <a:pPr marL="0" indent="0" algn="ctr">
              <a:buNone/>
              <a:defRPr/>
            </a:pPr>
            <a:r>
              <a:rPr lang="en-US" sz="1600" b="1">
                <a:solidFill>
                  <a:srgbClr val="EF4444"/>
                </a:solidFill>
                <a:latin typeface="Arial"/>
                <a:ea typeface="Arial"/>
                <a:cs typeface="Arial"/>
              </a:rPr>
              <a:t>High Reconstruction Error</a:t>
            </a:r>
            <a:endParaRPr lang="en-US" sz="1600"/>
          </a:p>
        </p:txBody>
      </p:sp>
      <p:sp>
        <p:nvSpPr>
          <p:cNvPr id="781145730" name="Text 8"/>
          <p:cNvSpPr/>
          <p:nvPr/>
        </p:nvSpPr>
        <p:spPr bwMode="auto">
          <a:xfrm>
            <a:off x="685800" y="34747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Model is confident, but input doesn't match the training distribution. This mismatch is detectable.</a:t>
            </a:r>
            <a:endParaRPr lang="en-US" sz="1100"/>
          </a:p>
        </p:txBody>
      </p:sp>
      <p:sp>
        <p:nvSpPr>
          <p:cNvPr id="341708973" name="Text 9"/>
          <p:cNvSpPr/>
          <p:nvPr/>
        </p:nvSpPr>
        <p:spPr bwMode="auto">
          <a:xfrm>
            <a:off x="475488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Detection Signals</a:t>
            </a:r>
            <a:endParaRPr lang="en-US" sz="1400"/>
          </a:p>
        </p:txBody>
      </p:sp>
      <p:pic>
        <p:nvPicPr>
          <p:cNvPr id="1608703550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754880" y="1965960"/>
            <a:ext cx="228600" cy="228600"/>
          </a:xfrm>
          <a:prstGeom prst="rect">
            <a:avLst/>
          </a:prstGeom>
        </p:spPr>
      </p:pic>
      <p:sp>
        <p:nvSpPr>
          <p:cNvPr id="307964417" name="Text 10"/>
          <p:cNvSpPr/>
          <p:nvPr/>
        </p:nvSpPr>
        <p:spPr bwMode="auto">
          <a:xfrm>
            <a:off x="507492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Reconstruction Error</a:t>
            </a:r>
            <a:endParaRPr lang="en-US" sz="1200"/>
          </a:p>
        </p:txBody>
      </p:sp>
      <p:sp>
        <p:nvSpPr>
          <p:cNvPr id="1502338099" name="Text 11"/>
          <p:cNvSpPr/>
          <p:nvPr/>
        </p:nvSpPr>
        <p:spPr bwMode="auto">
          <a:xfrm>
            <a:off x="5074920" y="21762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Autoencoder can't reconstruct the input well</a:t>
            </a:r>
            <a:endParaRPr lang="en-US" sz="1000"/>
          </a:p>
        </p:txBody>
      </p:sp>
      <p:pic>
        <p:nvPicPr>
          <p:cNvPr id="1546469272" name="Image 1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754880" y="2514600"/>
            <a:ext cx="228600" cy="228600"/>
          </a:xfrm>
          <a:prstGeom prst="rect">
            <a:avLst/>
          </a:prstGeom>
        </p:spPr>
      </p:pic>
      <p:sp>
        <p:nvSpPr>
          <p:cNvPr id="2029593323" name="Text 12"/>
          <p:cNvSpPr/>
          <p:nvPr/>
        </p:nvSpPr>
        <p:spPr bwMode="auto">
          <a:xfrm>
            <a:off x="5074920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Prediction Instability</a:t>
            </a:r>
            <a:endParaRPr lang="en-US" sz="1200"/>
          </a:p>
        </p:txBody>
      </p:sp>
      <p:sp>
        <p:nvSpPr>
          <p:cNvPr id="348095848" name="Text 13"/>
          <p:cNvSpPr/>
          <p:nvPr/>
        </p:nvSpPr>
        <p:spPr bwMode="auto">
          <a:xfrm>
            <a:off x="5074920" y="2724911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Small perturbations → large prediction changes</a:t>
            </a:r>
            <a:endParaRPr lang="en-US" sz="1000"/>
          </a:p>
        </p:txBody>
      </p:sp>
      <p:pic>
        <p:nvPicPr>
          <p:cNvPr id="298037350" name="Image 2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754880" y="3063240"/>
            <a:ext cx="228600" cy="228600"/>
          </a:xfrm>
          <a:prstGeom prst="rect">
            <a:avLst/>
          </a:prstGeom>
        </p:spPr>
      </p:pic>
      <p:sp>
        <p:nvSpPr>
          <p:cNvPr id="1980059836" name="Text 14"/>
          <p:cNvSpPr/>
          <p:nvPr/>
        </p:nvSpPr>
        <p:spPr bwMode="auto">
          <a:xfrm>
            <a:off x="5074920" y="3017519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Feature Space Distance</a:t>
            </a:r>
            <a:endParaRPr lang="en-US" sz="1200"/>
          </a:p>
        </p:txBody>
      </p:sp>
      <p:sp>
        <p:nvSpPr>
          <p:cNvPr id="227938786" name="Text 15"/>
          <p:cNvSpPr/>
          <p:nvPr/>
        </p:nvSpPr>
        <p:spPr bwMode="auto">
          <a:xfrm>
            <a:off x="5074920" y="32735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Embeddings far from training centroids</a:t>
            </a:r>
            <a:endParaRPr lang="en-US" sz="1000"/>
          </a:p>
        </p:txBody>
      </p:sp>
      <p:pic>
        <p:nvPicPr>
          <p:cNvPr id="831864479" name="Image 3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754880" y="3611880"/>
            <a:ext cx="228600" cy="228600"/>
          </a:xfrm>
          <a:prstGeom prst="rect">
            <a:avLst/>
          </a:prstGeom>
        </p:spPr>
      </p:pic>
      <p:sp>
        <p:nvSpPr>
          <p:cNvPr id="772365047" name="Text 16"/>
          <p:cNvSpPr/>
          <p:nvPr/>
        </p:nvSpPr>
        <p:spPr bwMode="auto">
          <a:xfrm>
            <a:off x="5074920" y="3566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Ensemble Disagreement</a:t>
            </a:r>
            <a:endParaRPr lang="en-US" sz="1200"/>
          </a:p>
        </p:txBody>
      </p:sp>
      <p:sp>
        <p:nvSpPr>
          <p:cNvPr id="1228805572" name="Text 17"/>
          <p:cNvSpPr/>
          <p:nvPr/>
        </p:nvSpPr>
        <p:spPr bwMode="auto">
          <a:xfrm>
            <a:off x="5074920" y="38221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Multiple models give conflicting predictions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4088464" name="Shape 0"/>
          <p:cNvSpPr/>
          <p:nvPr/>
        </p:nvSpPr>
        <p:spPr bwMode="auto">
          <a:xfrm>
            <a:off x="0" y="0"/>
            <a:ext cx="73152" cy="5143500"/>
          </a:xfrm>
          <a:prstGeom prst="lin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74946731" name="Text 1"/>
          <p:cNvSpPr/>
          <p:nvPr/>
        </p:nvSpPr>
        <p:spPr bwMode="auto"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EF4444"/>
                </a:solidFill>
                <a:latin typeface="Arial"/>
                <a:ea typeface="Arial"/>
                <a:cs typeface="Arial"/>
              </a:rPr>
              <a:t>Pattern 1 Implementation</a:t>
            </a:r>
            <a:endParaRPr lang="en-US" sz="1100"/>
          </a:p>
        </p:txBody>
      </p:sp>
      <p:sp>
        <p:nvSpPr>
          <p:cNvPr id="1914327600" name="Text 2"/>
          <p:cNvSpPr/>
          <p:nvPr/>
        </p:nvSpPr>
        <p:spPr bwMode="auto"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Metrics &amp; Alerting (PromQL)</a:t>
            </a:r>
            <a:endParaRPr lang="en-US" sz="2400"/>
          </a:p>
        </p:txBody>
      </p:sp>
      <p:sp>
        <p:nvSpPr>
          <p:cNvPr id="1255421153" name="Text 3"/>
          <p:cNvSpPr/>
          <p:nvPr/>
        </p:nvSpPr>
        <p:spPr bwMode="auto">
          <a:xfrm>
            <a:off x="54864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Metrics to Export</a:t>
            </a:r>
            <a:endParaRPr lang="en-US" sz="1400"/>
          </a:p>
        </p:txBody>
      </p:sp>
      <p:sp>
        <p:nvSpPr>
          <p:cNvPr id="701282680" name="Shape 4"/>
          <p:cNvSpPr/>
          <p:nvPr/>
        </p:nvSpPr>
        <p:spPr bwMode="auto">
          <a:xfrm>
            <a:off x="548640" y="1463040"/>
            <a:ext cx="3840480" cy="1188720"/>
          </a:xfrm>
          <a:prstGeom prst="line">
            <a:avLst/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83494635" name="Shape 5"/>
          <p:cNvSpPr/>
          <p:nvPr/>
        </p:nvSpPr>
        <p:spPr bwMode="auto">
          <a:xfrm>
            <a:off x="548640" y="1463040"/>
            <a:ext cx="3840480" cy="32004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594884507" name="Text 6"/>
          <p:cNvSpPr/>
          <p:nvPr/>
        </p:nvSpPr>
        <p:spPr bwMode="auto">
          <a:xfrm>
            <a:off x="685800" y="1508759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metrics_exporter.py</a:t>
            </a:r>
            <a:endParaRPr lang="en-US" sz="1000"/>
          </a:p>
        </p:txBody>
      </p:sp>
      <p:sp>
        <p:nvSpPr>
          <p:cNvPr id="1697227405" name="Text 7"/>
          <p:cNvSpPr/>
          <p:nvPr/>
        </p:nvSpPr>
        <p:spPr bwMode="auto">
          <a:xfrm>
            <a:off x="685800" y="18288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ml_prediction_confidence_bucket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ml_input_reconstruction_error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ml_embedding_distance_to_centroid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ml_prediction_stability_score</a:t>
            </a:r>
            <a:endParaRPr lang="en-US" sz="1000"/>
          </a:p>
        </p:txBody>
      </p:sp>
      <p:sp>
        <p:nvSpPr>
          <p:cNvPr id="1232055184" name="Text 8"/>
          <p:cNvSpPr/>
          <p:nvPr/>
        </p:nvSpPr>
        <p:spPr bwMode="auto">
          <a:xfrm>
            <a:off x="475488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Alert Rules</a:t>
            </a:r>
            <a:endParaRPr lang="en-US" sz="1400"/>
          </a:p>
        </p:txBody>
      </p:sp>
      <p:sp>
        <p:nvSpPr>
          <p:cNvPr id="199604241" name="Shape 9"/>
          <p:cNvSpPr/>
          <p:nvPr/>
        </p:nvSpPr>
        <p:spPr bwMode="auto">
          <a:xfrm>
            <a:off x="4754880" y="1463040"/>
            <a:ext cx="4023360" cy="1920240"/>
          </a:xfrm>
          <a:prstGeom prst="line">
            <a:avLst/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291387382" name="Shape 10"/>
          <p:cNvSpPr/>
          <p:nvPr/>
        </p:nvSpPr>
        <p:spPr bwMode="auto">
          <a:xfrm>
            <a:off x="4754880" y="1463040"/>
            <a:ext cx="4023360" cy="32004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3105183" name="Text 11"/>
          <p:cNvSpPr/>
          <p:nvPr/>
        </p:nvSpPr>
        <p:spPr bwMode="auto">
          <a:xfrm>
            <a:off x="4892039" y="1508759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alerting_rules.yml</a:t>
            </a:r>
            <a:endParaRPr lang="en-US" sz="1000"/>
          </a:p>
        </p:txBody>
      </p:sp>
      <p:sp>
        <p:nvSpPr>
          <p:cNvPr id="305542" name="Text 12"/>
          <p:cNvSpPr/>
          <p:nvPr/>
        </p:nvSpPr>
        <p:spPr bwMode="auto">
          <a:xfrm>
            <a:off x="4892039" y="182880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# High confidence + high reconstruction error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alert: PotentialAdversarialInput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expr: ml_input_reconstruction_error &gt; 2.5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  AND ml_prediction_confidence &gt; 0.95</a:t>
            </a:r>
            <a:endParaRPr lang="en-US" sz="1000"/>
          </a:p>
          <a:p>
            <a:pPr marL="0" indent="0">
              <a:buNone/>
              <a:defRPr/>
            </a:pP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# Input far from training distribution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alert: OutOfDistributionInput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expr: ml_embedding_distance_to_centroid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  &gt; 3 * ml_embedding_distance_threshold</a:t>
            </a:r>
            <a:endParaRPr lang="en-US" sz="1000"/>
          </a:p>
        </p:txBody>
      </p:sp>
      <p:sp>
        <p:nvSpPr>
          <p:cNvPr id="720069462" name="Shape 13"/>
          <p:cNvSpPr/>
          <p:nvPr/>
        </p:nvSpPr>
        <p:spPr bwMode="auto">
          <a:xfrm>
            <a:off x="548640" y="3657600"/>
            <a:ext cx="3840480" cy="82296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195986706" name="Text 14"/>
          <p:cNvSpPr/>
          <p:nvPr/>
        </p:nvSpPr>
        <p:spPr bwMode="auto">
          <a:xfrm>
            <a:off x="731520" y="3749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0B981"/>
                </a:solidFill>
                <a:latin typeface="Arial Black"/>
                <a:ea typeface="Arial Black"/>
                <a:cs typeface="Arial Black"/>
              </a:rPr>
              <a:t>~85%</a:t>
            </a:r>
            <a:endParaRPr lang="en-US" sz="2800"/>
          </a:p>
        </p:txBody>
      </p:sp>
      <p:sp>
        <p:nvSpPr>
          <p:cNvPr id="1082399470" name="Text 15"/>
          <p:cNvSpPr/>
          <p:nvPr/>
        </p:nvSpPr>
        <p:spPr bwMode="auto">
          <a:xfrm>
            <a:off x="2103120" y="37947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detection rate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for FGSM/PGD attacks</a:t>
            </a:r>
            <a:endParaRPr lang="en-US" sz="1100"/>
          </a:p>
        </p:txBody>
      </p:sp>
      <p:sp>
        <p:nvSpPr>
          <p:cNvPr id="1769834696" name="Shape 16"/>
          <p:cNvSpPr/>
          <p:nvPr/>
        </p:nvSpPr>
        <p:spPr bwMode="auto">
          <a:xfrm>
            <a:off x="4754880" y="3657600"/>
            <a:ext cx="4023360" cy="82296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850140777" name="Text 17"/>
          <p:cNvSpPr/>
          <p:nvPr/>
        </p:nvSpPr>
        <p:spPr bwMode="auto">
          <a:xfrm>
            <a:off x="4937760" y="3749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3B82F6"/>
                </a:solidFill>
                <a:latin typeface="Arial Black"/>
                <a:ea typeface="Arial Black"/>
                <a:cs typeface="Arial Black"/>
              </a:rPr>
              <a:t>+2-5ms</a:t>
            </a:r>
            <a:endParaRPr lang="en-US" sz="2800"/>
          </a:p>
        </p:txBody>
      </p:sp>
      <p:sp>
        <p:nvSpPr>
          <p:cNvPr id="174650680" name="Text 18"/>
          <p:cNvSpPr/>
          <p:nvPr/>
        </p:nvSpPr>
        <p:spPr bwMode="auto">
          <a:xfrm>
            <a:off x="6492240" y="37947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latency overhead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per inference</a:t>
            </a:r>
            <a:endParaRPr lang="en-US" sz="1100"/>
          </a:p>
        </p:txBody>
      </p:sp>
      <p:sp>
        <p:nvSpPr>
          <p:cNvPr id="279366020" name="Text 19"/>
          <p:cNvSpPr/>
          <p:nvPr/>
        </p:nvSpPr>
        <p:spPr bwMode="auto">
          <a:xfrm>
            <a:off x="54864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i="1">
                <a:solidFill>
                  <a:srgbClr val="94A3B8"/>
                </a:solidFill>
                <a:latin typeface="Arial"/>
                <a:ea typeface="Arial"/>
                <a:cs typeface="Arial"/>
              </a:rPr>
              <a:t>Full YAML available on GitHub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1808004" name="Shape 0"/>
          <p:cNvSpPr/>
          <p:nvPr/>
        </p:nvSpPr>
        <p:spPr bwMode="auto">
          <a:xfrm>
            <a:off x="0" y="0"/>
            <a:ext cx="73152" cy="5143500"/>
          </a:xfrm>
          <a:prstGeom prst="lin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031585613" name="Text 1"/>
          <p:cNvSpPr/>
          <p:nvPr/>
        </p:nvSpPr>
        <p:spPr bwMode="auto">
          <a:xfrm>
            <a:off x="548640" y="320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Pattern 2</a:t>
            </a:r>
            <a:endParaRPr lang="en-US" sz="1100"/>
          </a:p>
        </p:txBody>
      </p:sp>
      <p:sp>
        <p:nvSpPr>
          <p:cNvPr id="1946453929" name="Text 2"/>
          <p:cNvSpPr/>
          <p:nvPr/>
        </p:nvSpPr>
        <p:spPr bwMode="auto"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 Behavior Monitoring</a:t>
            </a:r>
            <a:endParaRPr lang="en-US" sz="2600"/>
          </a:p>
        </p:txBody>
      </p:sp>
      <p:sp>
        <p:nvSpPr>
          <p:cNvPr id="1027623161" name="Text 3"/>
          <p:cNvSpPr/>
          <p:nvPr/>
        </p:nvSpPr>
        <p:spPr bwMode="auto"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94A3B8"/>
                </a:solidFill>
                <a:latin typeface="Arial"/>
                <a:ea typeface="Arial"/>
                <a:cs typeface="Arial"/>
              </a:rPr>
              <a:t>Goal: Detect poisoning and model theft by monitoring behavior over time</a:t>
            </a:r>
            <a:endParaRPr lang="en-US" sz="1400"/>
          </a:p>
        </p:txBody>
      </p:sp>
      <p:sp>
        <p:nvSpPr>
          <p:cNvPr id="1866069615" name="Shape 4"/>
          <p:cNvSpPr/>
          <p:nvPr/>
        </p:nvSpPr>
        <p:spPr bwMode="auto">
          <a:xfrm>
            <a:off x="548640" y="1554480"/>
            <a:ext cx="4023360" cy="137160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828735162" name="Shape 5"/>
          <p:cNvSpPr/>
          <p:nvPr/>
        </p:nvSpPr>
        <p:spPr bwMode="auto">
          <a:xfrm>
            <a:off x="548640" y="1554480"/>
            <a:ext cx="54864" cy="1371600"/>
          </a:xfrm>
          <a:prstGeom prst="line">
            <a:avLst/>
          </a:prstGeom>
          <a:solidFill>
            <a:srgbClr val="F59E0B"/>
          </a:solidFill>
          <a:ln/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375928347" name="Text 6"/>
          <p:cNvSpPr/>
          <p:nvPr/>
        </p:nvSpPr>
        <p:spPr bwMode="auto">
          <a:xfrm>
            <a:off x="73152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Prediction Distribution Drift</a:t>
            </a:r>
            <a:endParaRPr lang="en-US" sz="1300"/>
          </a:p>
        </p:txBody>
      </p:sp>
      <p:sp>
        <p:nvSpPr>
          <p:cNvPr id="1794355414" name="Text 7"/>
          <p:cNvSpPr/>
          <p:nvPr/>
        </p:nvSpPr>
        <p:spPr bwMode="auto">
          <a:xfrm>
            <a:off x="731520" y="1965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PSI/KL divergence from baseline. Sudden shifts may indicate poisoning or data quality issues.</a:t>
            </a:r>
            <a:endParaRPr lang="en-US" sz="1100"/>
          </a:p>
        </p:txBody>
      </p:sp>
      <p:sp>
        <p:nvSpPr>
          <p:cNvPr id="62372842" name="Text 8"/>
          <p:cNvSpPr/>
          <p:nvPr/>
        </p:nvSpPr>
        <p:spPr bwMode="auto">
          <a:xfrm>
            <a:off x="73152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ml_prediction_distribution_psi</a:t>
            </a:r>
            <a:endParaRPr lang="en-US" sz="1000"/>
          </a:p>
        </p:txBody>
      </p:sp>
      <p:sp>
        <p:nvSpPr>
          <p:cNvPr id="1528329286" name="Shape 9"/>
          <p:cNvSpPr/>
          <p:nvPr/>
        </p:nvSpPr>
        <p:spPr bwMode="auto">
          <a:xfrm>
            <a:off x="4846320" y="1554480"/>
            <a:ext cx="4023360" cy="137160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585341029" name="Shape 10"/>
          <p:cNvSpPr/>
          <p:nvPr/>
        </p:nvSpPr>
        <p:spPr bwMode="auto">
          <a:xfrm>
            <a:off x="4846320" y="1554480"/>
            <a:ext cx="54864" cy="1371600"/>
          </a:xfrm>
          <a:prstGeom prst="line">
            <a:avLst/>
          </a:prstGeom>
          <a:solidFill>
            <a:srgbClr val="F59E0B"/>
          </a:solidFill>
          <a:ln/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63591525" name="Text 11"/>
          <p:cNvSpPr/>
          <p:nvPr/>
        </p:nvSpPr>
        <p:spPr bwMode="auto">
          <a:xfrm>
            <a:off x="502920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Feature Importance Changes</a:t>
            </a:r>
            <a:endParaRPr lang="en-US" sz="1300"/>
          </a:p>
        </p:txBody>
      </p:sp>
      <p:sp>
        <p:nvSpPr>
          <p:cNvPr id="594237887" name="Text 12"/>
          <p:cNvSpPr/>
          <p:nvPr/>
        </p:nvSpPr>
        <p:spPr bwMode="auto">
          <a:xfrm>
            <a:off x="5029200" y="1965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SHAP/LIME values shifting? Model may have learned from poisoned data.</a:t>
            </a:r>
            <a:endParaRPr lang="en-US" sz="1100"/>
          </a:p>
        </p:txBody>
      </p:sp>
      <p:sp>
        <p:nvSpPr>
          <p:cNvPr id="924853388" name="Text 13"/>
          <p:cNvSpPr/>
          <p:nvPr/>
        </p:nvSpPr>
        <p:spPr bwMode="auto">
          <a:xfrm>
            <a:off x="502920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ml_feature_importance_drift</a:t>
            </a:r>
            <a:endParaRPr lang="en-US" sz="1000"/>
          </a:p>
        </p:txBody>
      </p:sp>
      <p:sp>
        <p:nvSpPr>
          <p:cNvPr id="103821757" name="Shape 14"/>
          <p:cNvSpPr/>
          <p:nvPr/>
        </p:nvSpPr>
        <p:spPr bwMode="auto">
          <a:xfrm>
            <a:off x="548640" y="3108960"/>
            <a:ext cx="4023360" cy="137160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272496825" name="Shape 15"/>
          <p:cNvSpPr/>
          <p:nvPr/>
        </p:nvSpPr>
        <p:spPr bwMode="auto">
          <a:xfrm>
            <a:off x="548640" y="3108960"/>
            <a:ext cx="54864" cy="1371600"/>
          </a:xfrm>
          <a:prstGeom prst="line">
            <a:avLst/>
          </a:prstGeom>
          <a:solidFill>
            <a:srgbClr val="F59E0B"/>
          </a:solidFill>
          <a:ln/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283608374" name="Text 16"/>
          <p:cNvSpPr/>
          <p:nvPr/>
        </p:nvSpPr>
        <p:spPr bwMode="auto">
          <a:xfrm>
            <a:off x="73152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Query Pattern Anomalies</a:t>
            </a:r>
            <a:endParaRPr lang="en-US" sz="1300"/>
          </a:p>
        </p:txBody>
      </p:sp>
      <p:sp>
        <p:nvSpPr>
          <p:cNvPr id="127324594" name="Text 17"/>
          <p:cNvSpPr/>
          <p:nvPr/>
        </p:nvSpPr>
        <p:spPr bwMode="auto">
          <a:xfrm>
            <a:off x="731520" y="3520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Systematic API queries indicate model extraction attempts. Monitor entropy.</a:t>
            </a:r>
            <a:endParaRPr lang="en-US" sz="1100"/>
          </a:p>
        </p:txBody>
      </p:sp>
      <p:sp>
        <p:nvSpPr>
          <p:cNvPr id="662903818" name="Text 18"/>
          <p:cNvSpPr/>
          <p:nvPr/>
        </p:nvSpPr>
        <p:spPr bwMode="auto">
          <a:xfrm>
            <a:off x="73152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ml_api_queries_total</a:t>
            </a:r>
            <a:endParaRPr lang="en-US" sz="1000"/>
          </a:p>
        </p:txBody>
      </p:sp>
      <p:sp>
        <p:nvSpPr>
          <p:cNvPr id="1219965260" name="Shape 19"/>
          <p:cNvSpPr/>
          <p:nvPr/>
        </p:nvSpPr>
        <p:spPr bwMode="auto">
          <a:xfrm>
            <a:off x="4846320" y="3108960"/>
            <a:ext cx="4023360" cy="137160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41272815" name="Shape 20"/>
          <p:cNvSpPr/>
          <p:nvPr/>
        </p:nvSpPr>
        <p:spPr bwMode="auto">
          <a:xfrm>
            <a:off x="4846320" y="3108960"/>
            <a:ext cx="54864" cy="1371600"/>
          </a:xfrm>
          <a:prstGeom prst="line">
            <a:avLst/>
          </a:prstGeom>
          <a:solidFill>
            <a:srgbClr val="F59E0B"/>
          </a:solidFill>
          <a:ln/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802319611" name="Text 21"/>
          <p:cNvSpPr/>
          <p:nvPr/>
        </p:nvSpPr>
        <p:spPr bwMode="auto">
          <a:xfrm>
            <a:off x="502920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Performance Regression</a:t>
            </a:r>
            <a:endParaRPr lang="en-US" sz="1300"/>
          </a:p>
        </p:txBody>
      </p:sp>
      <p:sp>
        <p:nvSpPr>
          <p:cNvPr id="866358277" name="Text 22"/>
          <p:cNvSpPr/>
          <p:nvPr/>
        </p:nvSpPr>
        <p:spPr bwMode="auto">
          <a:xfrm>
            <a:off x="5029200" y="3520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Accuracy drops on specific classes reveal targeted attacks.</a:t>
            </a:r>
            <a:endParaRPr lang="en-US" sz="1100"/>
          </a:p>
        </p:txBody>
      </p:sp>
      <p:sp>
        <p:nvSpPr>
          <p:cNvPr id="928780630" name="Text 23"/>
          <p:cNvSpPr/>
          <p:nvPr/>
        </p:nvSpPr>
        <p:spPr bwMode="auto">
          <a:xfrm>
            <a:off x="502920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ml_accuracy_by_class</a:t>
            </a:r>
            <a:endParaRPr lang="en-US" sz="1000"/>
          </a:p>
        </p:txBody>
      </p:sp>
      <p:sp>
        <p:nvSpPr>
          <p:cNvPr id="1968004405" name="Shape 24"/>
          <p:cNvSpPr/>
          <p:nvPr/>
        </p:nvSpPr>
        <p:spPr bwMode="auto">
          <a:xfrm>
            <a:off x="548640" y="4572000"/>
            <a:ext cx="8046720" cy="457200"/>
          </a:xfrm>
          <a:prstGeom prst="line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04960432" name="Text 25"/>
          <p:cNvSpPr/>
          <p:nvPr/>
        </p:nvSpPr>
        <p:spPr bwMode="auto"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59E0B"/>
                </a:solidFill>
                <a:latin typeface="Arial"/>
                <a:ea typeface="Arial"/>
                <a:cs typeface="Arial"/>
              </a:rPr>
              <a:t>Key insight: 10K queries are often enough to clone simple models. Rate limit + alert early.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5555682" name="Shape 0"/>
          <p:cNvSpPr/>
          <p:nvPr/>
        </p:nvSpPr>
        <p:spPr bwMode="auto">
          <a:xfrm>
            <a:off x="0" y="0"/>
            <a:ext cx="73152" cy="5143500"/>
          </a:xfrm>
          <a:prstGeom prst="lin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005041489" name="Text 1"/>
          <p:cNvSpPr/>
          <p:nvPr/>
        </p:nvSpPr>
        <p:spPr bwMode="auto"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Pattern 2 Implementation</a:t>
            </a:r>
            <a:endParaRPr lang="en-US" sz="1100"/>
          </a:p>
        </p:txBody>
      </p:sp>
      <p:sp>
        <p:nvSpPr>
          <p:cNvPr id="752049821" name="Text 2"/>
          <p:cNvSpPr/>
          <p:nvPr/>
        </p:nvSpPr>
        <p:spPr bwMode="auto"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vmalert Rules (PromQL)</a:t>
            </a:r>
            <a:endParaRPr lang="en-US" sz="2400"/>
          </a:p>
        </p:txBody>
      </p:sp>
      <p:sp>
        <p:nvSpPr>
          <p:cNvPr id="1355969279" name="Shape 3"/>
          <p:cNvSpPr/>
          <p:nvPr/>
        </p:nvSpPr>
        <p:spPr bwMode="auto">
          <a:xfrm>
            <a:off x="548640" y="1051560"/>
            <a:ext cx="8229600" cy="3474720"/>
          </a:xfrm>
          <a:prstGeom prst="line">
            <a:avLst/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030977849" name="Shape 4"/>
          <p:cNvSpPr/>
          <p:nvPr/>
        </p:nvSpPr>
        <p:spPr bwMode="auto">
          <a:xfrm>
            <a:off x="548640" y="1051560"/>
            <a:ext cx="8229600" cy="32004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295503978" name="Text 5"/>
          <p:cNvSpPr/>
          <p:nvPr/>
        </p:nvSpPr>
        <p:spPr bwMode="auto">
          <a:xfrm>
            <a:off x="685800" y="109728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behavior_alerts.yml</a:t>
            </a:r>
            <a:endParaRPr lang="en-US" sz="1000"/>
          </a:p>
        </p:txBody>
      </p:sp>
      <p:sp>
        <p:nvSpPr>
          <p:cNvPr id="139481323" name="Text 6"/>
          <p:cNvSpPr/>
          <p:nvPr/>
        </p:nvSpPr>
        <p:spPr bwMode="auto">
          <a:xfrm>
            <a:off x="685800" y="1329447"/>
            <a:ext cx="7955280" cy="30175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# Prediction distribution drift (potential poisoning)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alert: ModelDistributionDrift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expr: ml_prediction_distribution_psi &gt; 0.2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for: 15m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labels: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severity: warning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annotations: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summary: "Model prediction distribution has drifted"</a:t>
            </a:r>
            <a:endParaRPr lang="en-US" sz="1000"/>
          </a:p>
          <a:p>
            <a:pPr marL="0" indent="0">
              <a:buNone/>
              <a:defRPr/>
            </a:pP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# Potential model extraction (high query rate)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alert: SuspiciousQueryPattern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expr: sum by (user_id)(rate(ml_api_queries_total[10m])) &gt; 100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labels: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severity: critical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annotations: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summary: "High API query rate detected for user"</a:t>
            </a:r>
            <a:endParaRPr lang="en-US" sz="1000"/>
          </a:p>
          <a:p>
            <a:pPr marL="0" indent="0">
              <a:buNone/>
              <a:defRPr/>
            </a:pP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# Accuracy drop on specific class (targeted attack)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alert: TargetedAccuracyDrop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expr: (ml_accuracy_by_class - ml_accuracy_by_class offset 1d) &lt; -0.1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labels: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severity: warning</a:t>
            </a:r>
            <a:endParaRPr lang="en-US" sz="1000"/>
          </a:p>
        </p:txBody>
      </p:sp>
      <p:sp>
        <p:nvSpPr>
          <p:cNvPr id="506903850" name="Text 7"/>
          <p:cNvSpPr/>
          <p:nvPr/>
        </p:nvSpPr>
        <p:spPr bwMode="auto">
          <a:xfrm>
            <a:off x="54864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94A3B8"/>
                </a:solidFill>
                <a:latin typeface="Arial"/>
                <a:ea typeface="Arial"/>
                <a:cs typeface="Arial"/>
              </a:rPr>
              <a:t>Behavioral analysis catches attacks that evade input-level detection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9486364" name="Shape 0"/>
          <p:cNvSpPr/>
          <p:nvPr/>
        </p:nvSpPr>
        <p:spPr bwMode="auto">
          <a:xfrm>
            <a:off x="0" y="0"/>
            <a:ext cx="73152" cy="5143500"/>
          </a:xfrm>
          <a:prstGeom prst="lin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37347291" name="Text 1"/>
          <p:cNvSpPr/>
          <p:nvPr/>
        </p:nvSpPr>
        <p:spPr bwMode="auto">
          <a:xfrm>
            <a:off x="548640" y="320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Pattern 3</a:t>
            </a:r>
            <a:endParaRPr lang="en-US" sz="1100"/>
          </a:p>
        </p:txBody>
      </p:sp>
      <p:sp>
        <p:nvSpPr>
          <p:cNvPr id="2022842241" name="Text 2"/>
          <p:cNvSpPr/>
          <p:nvPr/>
        </p:nvSpPr>
        <p:spPr bwMode="auto"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LLM-Specific Security Monitoring</a:t>
            </a:r>
            <a:endParaRPr lang="en-US" sz="2600"/>
          </a:p>
        </p:txBody>
      </p:sp>
      <p:sp>
        <p:nvSpPr>
          <p:cNvPr id="1438014961" name="Text 3"/>
          <p:cNvSpPr/>
          <p:nvPr/>
        </p:nvSpPr>
        <p:spPr bwMode="auto"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F4444"/>
                </a:solidFill>
                <a:latin typeface="Arial"/>
                <a:ea typeface="Arial"/>
                <a:cs typeface="Arial"/>
              </a:rPr>
              <a:t>Prompt Injection is OWASP #1 for LLM Applications (2024)</a:t>
            </a:r>
            <a:endParaRPr lang="en-US" sz="1400"/>
          </a:p>
        </p:txBody>
      </p:sp>
      <p:sp>
        <p:nvSpPr>
          <p:cNvPr id="1674474151" name="Text 4"/>
          <p:cNvSpPr/>
          <p:nvPr/>
        </p:nvSpPr>
        <p:spPr bwMode="auto">
          <a:xfrm>
            <a:off x="548640" y="1508759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Threat Taxonomy</a:t>
            </a:r>
            <a:endParaRPr lang="en-US" sz="1400"/>
          </a:p>
        </p:txBody>
      </p:sp>
      <p:sp>
        <p:nvSpPr>
          <p:cNvPr id="157085377" name="Shape 5"/>
          <p:cNvSpPr/>
          <p:nvPr/>
        </p:nvSpPr>
        <p:spPr bwMode="auto">
          <a:xfrm>
            <a:off x="548640" y="1874520"/>
            <a:ext cx="3931920" cy="59436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26499016" name="Text 6"/>
          <p:cNvSpPr/>
          <p:nvPr/>
        </p:nvSpPr>
        <p:spPr bwMode="auto">
          <a:xfrm>
            <a:off x="685800" y="1947671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Direct Prompt Injection</a:t>
            </a:r>
            <a:endParaRPr lang="en-US" sz="1200"/>
          </a:p>
        </p:txBody>
      </p:sp>
      <p:sp>
        <p:nvSpPr>
          <p:cNvPr id="113876070" name="Text 7"/>
          <p:cNvSpPr/>
          <p:nvPr/>
        </p:nvSpPr>
        <p:spPr bwMode="auto">
          <a:xfrm>
            <a:off x="685800" y="2194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i="1">
                <a:solidFill>
                  <a:srgbClr val="94A3B8"/>
                </a:solidFill>
                <a:latin typeface="Arial"/>
                <a:ea typeface="Arial"/>
                <a:cs typeface="Arial"/>
              </a:rPr>
              <a:t>"Ignore previous instructions and..."</a:t>
            </a:r>
            <a:endParaRPr lang="en-US" sz="1000"/>
          </a:p>
        </p:txBody>
      </p:sp>
      <p:sp>
        <p:nvSpPr>
          <p:cNvPr id="331021840" name="Shape 8"/>
          <p:cNvSpPr/>
          <p:nvPr/>
        </p:nvSpPr>
        <p:spPr bwMode="auto">
          <a:xfrm>
            <a:off x="548640" y="2560320"/>
            <a:ext cx="3931920" cy="59436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39805983" name="Text 9"/>
          <p:cNvSpPr/>
          <p:nvPr/>
        </p:nvSpPr>
        <p:spPr bwMode="auto">
          <a:xfrm>
            <a:off x="685800" y="26334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Indirect Injection</a:t>
            </a:r>
            <a:endParaRPr lang="en-US" sz="1200"/>
          </a:p>
        </p:txBody>
      </p:sp>
      <p:sp>
        <p:nvSpPr>
          <p:cNvPr id="1683897640" name="Text 10"/>
          <p:cNvSpPr/>
          <p:nvPr/>
        </p:nvSpPr>
        <p:spPr bwMode="auto">
          <a:xfrm>
            <a:off x="685800" y="2880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i="1">
                <a:solidFill>
                  <a:srgbClr val="94A3B8"/>
                </a:solidFill>
                <a:latin typeface="Arial"/>
                <a:ea typeface="Arial"/>
                <a:cs typeface="Arial"/>
              </a:rPr>
              <a:t>Malicious content in retrieved documents (RAG)</a:t>
            </a:r>
            <a:endParaRPr lang="en-US" sz="1000"/>
          </a:p>
        </p:txBody>
      </p:sp>
      <p:sp>
        <p:nvSpPr>
          <p:cNvPr id="1496437993" name="Shape 11"/>
          <p:cNvSpPr/>
          <p:nvPr/>
        </p:nvSpPr>
        <p:spPr bwMode="auto">
          <a:xfrm>
            <a:off x="548640" y="3246120"/>
            <a:ext cx="3931920" cy="59436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11012043" name="Text 12"/>
          <p:cNvSpPr/>
          <p:nvPr/>
        </p:nvSpPr>
        <p:spPr bwMode="auto">
          <a:xfrm>
            <a:off x="685800" y="33192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Jailbreaking</a:t>
            </a:r>
            <a:endParaRPr lang="en-US" sz="1200"/>
          </a:p>
        </p:txBody>
      </p:sp>
      <p:sp>
        <p:nvSpPr>
          <p:cNvPr id="594119550" name="Text 13"/>
          <p:cNvSpPr/>
          <p:nvPr/>
        </p:nvSpPr>
        <p:spPr bwMode="auto">
          <a:xfrm>
            <a:off x="685800" y="3566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i="1">
                <a:solidFill>
                  <a:srgbClr val="94A3B8"/>
                </a:solidFill>
                <a:latin typeface="Arial"/>
                <a:ea typeface="Arial"/>
                <a:cs typeface="Arial"/>
              </a:rPr>
              <a:t>Bypassing safety guardrails creatively</a:t>
            </a:r>
            <a:endParaRPr lang="en-US" sz="1000"/>
          </a:p>
        </p:txBody>
      </p:sp>
      <p:sp>
        <p:nvSpPr>
          <p:cNvPr id="456551670" name="Shape 14"/>
          <p:cNvSpPr/>
          <p:nvPr/>
        </p:nvSpPr>
        <p:spPr bwMode="auto">
          <a:xfrm>
            <a:off x="548640" y="3931920"/>
            <a:ext cx="3931920" cy="59436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51588576" name="Text 15"/>
          <p:cNvSpPr/>
          <p:nvPr/>
        </p:nvSpPr>
        <p:spPr bwMode="auto">
          <a:xfrm>
            <a:off x="685800" y="40050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Data/System Prompt Extraction</a:t>
            </a:r>
            <a:endParaRPr lang="en-US" sz="1200"/>
          </a:p>
        </p:txBody>
      </p:sp>
      <p:sp>
        <p:nvSpPr>
          <p:cNvPr id="735483258" name="Text 16"/>
          <p:cNvSpPr/>
          <p:nvPr/>
        </p:nvSpPr>
        <p:spPr bwMode="auto">
          <a:xfrm>
            <a:off x="685800" y="4251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i="1">
                <a:solidFill>
                  <a:srgbClr val="94A3B8"/>
                </a:solidFill>
                <a:latin typeface="Arial"/>
                <a:ea typeface="Arial"/>
                <a:cs typeface="Arial"/>
              </a:rPr>
              <a:t>"What are your instructions?"</a:t>
            </a:r>
            <a:endParaRPr lang="en-US" sz="1000"/>
          </a:p>
        </p:txBody>
      </p:sp>
      <p:sp>
        <p:nvSpPr>
          <p:cNvPr id="1602251534" name="Text 17"/>
          <p:cNvSpPr/>
          <p:nvPr/>
        </p:nvSpPr>
        <p:spPr bwMode="auto">
          <a:xfrm>
            <a:off x="4754880" y="1508759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Metrics to Export</a:t>
            </a:r>
            <a:endParaRPr lang="en-US" sz="1400"/>
          </a:p>
        </p:txBody>
      </p:sp>
      <p:sp>
        <p:nvSpPr>
          <p:cNvPr id="110203146" name="Shape 18"/>
          <p:cNvSpPr/>
          <p:nvPr/>
        </p:nvSpPr>
        <p:spPr bwMode="auto">
          <a:xfrm>
            <a:off x="4754880" y="1874520"/>
            <a:ext cx="4023360" cy="2194560"/>
          </a:xfrm>
          <a:prstGeom prst="line">
            <a:avLst/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54437372" name="Shape 19"/>
          <p:cNvSpPr/>
          <p:nvPr/>
        </p:nvSpPr>
        <p:spPr bwMode="auto">
          <a:xfrm>
            <a:off x="4754880" y="1874520"/>
            <a:ext cx="4023360" cy="32004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870946571" name="Text 20"/>
          <p:cNvSpPr/>
          <p:nvPr/>
        </p:nvSpPr>
        <p:spPr bwMode="auto">
          <a:xfrm>
            <a:off x="4892039" y="19202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llm_metrics.py</a:t>
            </a:r>
            <a:endParaRPr lang="en-US" sz="1000"/>
          </a:p>
        </p:txBody>
      </p:sp>
      <p:sp>
        <p:nvSpPr>
          <p:cNvPr id="1275349303" name="Text 21"/>
          <p:cNvSpPr/>
          <p:nvPr/>
        </p:nvSpPr>
        <p:spPr bwMode="auto">
          <a:xfrm>
            <a:off x="4892039" y="224028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# Classifier confidence (0-1)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llm_prompt_injection_score</a:t>
            </a:r>
            <a:endParaRPr lang="en-US" sz="1000"/>
          </a:p>
          <a:p>
            <a:pPr marL="0" indent="0">
              <a:buNone/>
              <a:defRPr/>
            </a:pP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# Embedding distance to system prompt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llm_prompt_similarity_to_system</a:t>
            </a:r>
            <a:endParaRPr lang="en-US" sz="1000"/>
          </a:p>
          <a:p>
            <a:pPr marL="0" indent="0">
              <a:buNone/>
              <a:defRPr/>
            </a:pP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# Content filter triggers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llm_output_policy_violations_total</a:t>
            </a:r>
            <a:endParaRPr lang="en-US" sz="1000"/>
          </a:p>
          <a:p>
            <a:pPr marL="0" indent="0">
              <a:buNone/>
              <a:defRPr/>
            </a:pP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# Tool calls by name, user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llm_tool_calls_total</a:t>
            </a:r>
            <a:endParaRPr lang="en-US" sz="1000"/>
          </a:p>
        </p:txBody>
      </p:sp>
      <p:sp>
        <p:nvSpPr>
          <p:cNvPr id="594653537" name="Text 22"/>
          <p:cNvSpPr/>
          <p:nvPr/>
        </p:nvSpPr>
        <p:spPr bwMode="auto">
          <a:xfrm>
            <a:off x="4754880" y="4160519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Arial"/>
                <a:ea typeface="Arial"/>
                <a:cs typeface="Arial"/>
              </a:rPr>
              <a:t>Tip: Use ProtectAI/deberta-v3-base-prompt-injection classifier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8099452" name="Shape 0"/>
          <p:cNvSpPr/>
          <p:nvPr/>
        </p:nvSpPr>
        <p:spPr bwMode="auto">
          <a:xfrm>
            <a:off x="0" y="0"/>
            <a:ext cx="73152" cy="5143500"/>
          </a:xfrm>
          <a:prstGeom prst="lin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70411506" name="Text 1"/>
          <p:cNvSpPr/>
          <p:nvPr/>
        </p:nvSpPr>
        <p:spPr bwMode="auto"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Pattern 3 Implementation</a:t>
            </a:r>
            <a:endParaRPr lang="en-US" sz="1100"/>
          </a:p>
        </p:txBody>
      </p:sp>
      <p:sp>
        <p:nvSpPr>
          <p:cNvPr id="1520708406" name="Text 2"/>
          <p:cNvSpPr/>
          <p:nvPr/>
        </p:nvSpPr>
        <p:spPr bwMode="auto"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LLM Security Alerting (vmalert)</a:t>
            </a:r>
            <a:endParaRPr lang="en-US" sz="2400"/>
          </a:p>
        </p:txBody>
      </p:sp>
      <p:sp>
        <p:nvSpPr>
          <p:cNvPr id="1437844884" name="Shape 3"/>
          <p:cNvSpPr/>
          <p:nvPr/>
        </p:nvSpPr>
        <p:spPr bwMode="auto">
          <a:xfrm>
            <a:off x="548640" y="1051560"/>
            <a:ext cx="8229600" cy="3291840"/>
          </a:xfrm>
          <a:prstGeom prst="line">
            <a:avLst/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04547283" name="Shape 4"/>
          <p:cNvSpPr/>
          <p:nvPr/>
        </p:nvSpPr>
        <p:spPr bwMode="auto">
          <a:xfrm>
            <a:off x="548640" y="1051560"/>
            <a:ext cx="8229600" cy="32004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876839221" name="Text 5"/>
          <p:cNvSpPr/>
          <p:nvPr/>
        </p:nvSpPr>
        <p:spPr bwMode="auto">
          <a:xfrm>
            <a:off x="640080" y="96012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llm_alerts.yml</a:t>
            </a:r>
            <a:endParaRPr lang="en-US" sz="1000"/>
          </a:p>
        </p:txBody>
      </p:sp>
      <p:sp>
        <p:nvSpPr>
          <p:cNvPr id="1125507771" name="Text 6"/>
          <p:cNvSpPr/>
          <p:nvPr/>
        </p:nvSpPr>
        <p:spPr bwMode="auto">
          <a:xfrm>
            <a:off x="685800" y="1188720"/>
            <a:ext cx="79552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# High confidence prompt injection detected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alert: PromptInjectionDetected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expr: llm_prompt_injection_score &gt; 0.85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labels: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severity: critical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annotations: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summary: "Prompt injection attempt detected"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runbook: "Block request, log full prompt, notify security"</a:t>
            </a:r>
            <a:endParaRPr lang="en-US" sz="1000"/>
          </a:p>
          <a:p>
            <a:pPr marL="0" indent="0">
              <a:buNone/>
              <a:defRPr/>
            </a:pP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# System prompt extraction attempt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alert: SystemPromptExtractionAttempt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expr: llm_prompt_similarity_to_system &gt; 0.7 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  OR llm_output_contains_system_prompt == 1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labels: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severity: warning</a:t>
            </a:r>
            <a:endParaRPr lang="en-US" sz="1000"/>
          </a:p>
          <a:p>
            <a:pPr marL="0" indent="0">
              <a:buNone/>
              <a:defRPr/>
            </a:pP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# Suspicious tool usage pattern (agent attacks)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alert: SuspiciousToolUsage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expr: sum by (user_id)(rate(llm_tool_calls_total{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    tool=~"shell|exec|write"}[5m])) &gt; 5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labels: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severity: critical</a:t>
            </a:r>
            <a:endParaRPr lang="en-US" sz="1000"/>
          </a:p>
        </p:txBody>
      </p:sp>
      <p:sp>
        <p:nvSpPr>
          <p:cNvPr id="1160842487" name="Text 7"/>
          <p:cNvSpPr/>
          <p:nvPr/>
        </p:nvSpPr>
        <p:spPr bwMode="auto">
          <a:xfrm>
            <a:off x="548640" y="45034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Response Actions: Block → Log → Alert → Review</a:t>
            </a:r>
            <a:endParaRPr lang="en-US" sz="1300"/>
          </a:p>
        </p:txBody>
      </p:sp>
      <p:sp>
        <p:nvSpPr>
          <p:cNvPr id="1275509615" name="Text 8"/>
          <p:cNvSpPr/>
          <p:nvPr/>
        </p:nvSpPr>
        <p:spPr bwMode="auto">
          <a:xfrm>
            <a:off x="54864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Always log the full prompt and output for forensic analysis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5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6399483" name="Shape 0"/>
          <p:cNvSpPr/>
          <p:nvPr/>
        </p:nvSpPr>
        <p:spPr bwMode="auto">
          <a:xfrm>
            <a:off x="0" y="0"/>
            <a:ext cx="73152" cy="5143500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064680550" name="Text 1"/>
          <p:cNvSpPr/>
          <p:nvPr/>
        </p:nvSpPr>
        <p:spPr bwMode="auto">
          <a:xfrm>
            <a:off x="548640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10B981"/>
                </a:solidFill>
                <a:latin typeface="Arial Black"/>
                <a:ea typeface="Arial Black"/>
                <a:cs typeface="Arial Black"/>
              </a:rPr>
              <a:t>04</a:t>
            </a:r>
            <a:endParaRPr lang="en-US" sz="2400"/>
          </a:p>
        </p:txBody>
      </p:sp>
      <p:sp>
        <p:nvSpPr>
          <p:cNvPr id="1388772403" name="Text 2"/>
          <p:cNvSpPr/>
          <p:nvPr/>
        </p:nvSpPr>
        <p:spPr bwMode="auto">
          <a:xfrm>
            <a:off x="118872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Fully Open Source Stack</a:t>
            </a:r>
            <a:endParaRPr lang="en-US" sz="2400"/>
          </a:p>
        </p:txBody>
      </p:sp>
      <p:sp>
        <p:nvSpPr>
          <p:cNvPr id="1306702927" name="Shape 3"/>
          <p:cNvSpPr/>
          <p:nvPr/>
        </p:nvSpPr>
        <p:spPr bwMode="auto">
          <a:xfrm>
            <a:off x="548640" y="1005840"/>
            <a:ext cx="1965960" cy="219456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49442196" name="Shape 4"/>
          <p:cNvSpPr/>
          <p:nvPr/>
        </p:nvSpPr>
        <p:spPr bwMode="auto">
          <a:xfrm>
            <a:off x="548640" y="1005840"/>
            <a:ext cx="1965960" cy="54864"/>
          </a:xfrm>
          <a:prstGeom prst="line">
            <a:avLst/>
          </a:prstGeom>
          <a:solidFill>
            <a:srgbClr val="10B981"/>
          </a:solidFill>
          <a:ln/>
        </p:spPr>
        <p:txBody>
          <a:bodyPr/>
          <a:lstStyle/>
          <a:p>
            <a:pPr>
              <a:defRPr/>
            </a:pPr>
            <a:endParaRPr lang="fr-FR"/>
          </a:p>
        </p:txBody>
      </p:sp>
      <p:pic>
        <p:nvPicPr>
          <p:cNvPr id="553932580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34440" y="1188720"/>
            <a:ext cx="594360" cy="594360"/>
          </a:xfrm>
          <a:prstGeom prst="rect">
            <a:avLst/>
          </a:prstGeom>
        </p:spPr>
      </p:pic>
      <p:sp>
        <p:nvSpPr>
          <p:cNvPr id="20880830" name="Text 5"/>
          <p:cNvSpPr/>
          <p:nvPr/>
        </p:nvSpPr>
        <p:spPr bwMode="auto">
          <a:xfrm>
            <a:off x="640080" y="18745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VictoriaMetrics</a:t>
            </a:r>
            <a:endParaRPr lang="en-US" sz="1400"/>
          </a:p>
        </p:txBody>
      </p:sp>
      <p:sp>
        <p:nvSpPr>
          <p:cNvPr id="1427771807" name="Text 6"/>
          <p:cNvSpPr/>
          <p:nvPr/>
        </p:nvSpPr>
        <p:spPr bwMode="auto">
          <a:xfrm>
            <a:off x="640080" y="21488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Metrics &amp; Alerting</a:t>
            </a:r>
            <a:endParaRPr lang="en-US" sz="1000"/>
          </a:p>
        </p:txBody>
      </p:sp>
      <p:sp>
        <p:nvSpPr>
          <p:cNvPr id="738916555" name="Text 7"/>
          <p:cNvSpPr/>
          <p:nvPr/>
        </p:nvSpPr>
        <p:spPr bwMode="auto">
          <a:xfrm>
            <a:off x="640080" y="24688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High-performance TSDB, vmalert for rules, 100% PromQL compatible</a:t>
            </a:r>
            <a:endParaRPr lang="en-US" sz="1000"/>
          </a:p>
        </p:txBody>
      </p:sp>
      <p:sp>
        <p:nvSpPr>
          <p:cNvPr id="1144851175" name="Shape 8"/>
          <p:cNvSpPr/>
          <p:nvPr/>
        </p:nvSpPr>
        <p:spPr bwMode="auto">
          <a:xfrm>
            <a:off x="2697480" y="1005840"/>
            <a:ext cx="1965960" cy="219456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65793189" name="Shape 9"/>
          <p:cNvSpPr/>
          <p:nvPr/>
        </p:nvSpPr>
        <p:spPr bwMode="auto">
          <a:xfrm>
            <a:off x="2697480" y="1005840"/>
            <a:ext cx="1965960" cy="54864"/>
          </a:xfrm>
          <a:prstGeom prst="line">
            <a:avLst/>
          </a:prstGeom>
          <a:solidFill>
            <a:srgbClr val="F59E0B"/>
          </a:solidFill>
          <a:ln/>
        </p:spPr>
        <p:txBody>
          <a:bodyPr/>
          <a:lstStyle/>
          <a:p>
            <a:pPr>
              <a:defRPr/>
            </a:pPr>
            <a:endParaRPr lang="fr-FR"/>
          </a:p>
        </p:txBody>
      </p:sp>
      <p:pic>
        <p:nvPicPr>
          <p:cNvPr id="310736196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383280" y="1188720"/>
            <a:ext cx="594360" cy="594360"/>
          </a:xfrm>
          <a:prstGeom prst="rect">
            <a:avLst/>
          </a:prstGeom>
        </p:spPr>
      </p:pic>
      <p:sp>
        <p:nvSpPr>
          <p:cNvPr id="1597864197" name="Text 10"/>
          <p:cNvSpPr/>
          <p:nvPr/>
        </p:nvSpPr>
        <p:spPr bwMode="auto">
          <a:xfrm>
            <a:off x="2788920" y="18745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Loki</a:t>
            </a:r>
            <a:endParaRPr lang="en-US" sz="1400"/>
          </a:p>
        </p:txBody>
      </p:sp>
      <p:sp>
        <p:nvSpPr>
          <p:cNvPr id="559549414" name="Text 11"/>
          <p:cNvSpPr/>
          <p:nvPr/>
        </p:nvSpPr>
        <p:spPr bwMode="auto">
          <a:xfrm>
            <a:off x="2788920" y="21488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Log Aggregation</a:t>
            </a:r>
            <a:endParaRPr lang="en-US" sz="1000"/>
          </a:p>
        </p:txBody>
      </p:sp>
      <p:sp>
        <p:nvSpPr>
          <p:cNvPr id="1886280795" name="Text 12"/>
          <p:cNvSpPr/>
          <p:nvPr/>
        </p:nvSpPr>
        <p:spPr bwMode="auto">
          <a:xfrm>
            <a:off x="2788920" y="24688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Structured ML security logs, LogQL for investigation</a:t>
            </a:r>
            <a:endParaRPr lang="en-US" sz="1000"/>
          </a:p>
        </p:txBody>
      </p:sp>
      <p:sp>
        <p:nvSpPr>
          <p:cNvPr id="851147193" name="Shape 13"/>
          <p:cNvSpPr/>
          <p:nvPr/>
        </p:nvSpPr>
        <p:spPr bwMode="auto">
          <a:xfrm>
            <a:off x="4846320" y="1005840"/>
            <a:ext cx="1965960" cy="219456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670846581" name="Shape 14"/>
          <p:cNvSpPr/>
          <p:nvPr/>
        </p:nvSpPr>
        <p:spPr bwMode="auto">
          <a:xfrm>
            <a:off x="4846320" y="1005840"/>
            <a:ext cx="1965960" cy="54864"/>
          </a:xfrm>
          <a:prstGeom prst="line">
            <a:avLst/>
          </a:prstGeom>
          <a:solidFill>
            <a:srgbClr val="F46800"/>
          </a:solidFill>
          <a:ln/>
        </p:spPr>
        <p:txBody>
          <a:bodyPr/>
          <a:lstStyle/>
          <a:p>
            <a:pPr>
              <a:defRPr/>
            </a:pPr>
            <a:endParaRPr lang="fr-FR"/>
          </a:p>
        </p:txBody>
      </p:sp>
      <p:pic>
        <p:nvPicPr>
          <p:cNvPr id="1098313549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532120" y="1188720"/>
            <a:ext cx="594360" cy="594360"/>
          </a:xfrm>
          <a:prstGeom prst="rect">
            <a:avLst/>
          </a:prstGeom>
        </p:spPr>
      </p:pic>
      <p:sp>
        <p:nvSpPr>
          <p:cNvPr id="1338807764" name="Text 15"/>
          <p:cNvSpPr/>
          <p:nvPr/>
        </p:nvSpPr>
        <p:spPr bwMode="auto">
          <a:xfrm>
            <a:off x="4937760" y="18745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Grafana</a:t>
            </a:r>
            <a:endParaRPr lang="en-US" sz="1400"/>
          </a:p>
        </p:txBody>
      </p:sp>
      <p:sp>
        <p:nvSpPr>
          <p:cNvPr id="326010154" name="Text 16"/>
          <p:cNvSpPr/>
          <p:nvPr/>
        </p:nvSpPr>
        <p:spPr bwMode="auto">
          <a:xfrm>
            <a:off x="4937760" y="21488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46800"/>
                </a:solidFill>
                <a:latin typeface="Arial"/>
                <a:ea typeface="Arial"/>
                <a:cs typeface="Arial"/>
              </a:rPr>
              <a:t>Visualization</a:t>
            </a:r>
            <a:endParaRPr lang="en-US" sz="1000"/>
          </a:p>
        </p:txBody>
      </p:sp>
      <p:sp>
        <p:nvSpPr>
          <p:cNvPr id="1386439499" name="Text 17"/>
          <p:cNvSpPr/>
          <p:nvPr/>
        </p:nvSpPr>
        <p:spPr bwMode="auto">
          <a:xfrm>
            <a:off x="4937760" y="24688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Security dashboards, unified alerting, forensics</a:t>
            </a:r>
            <a:endParaRPr lang="en-US" sz="1000"/>
          </a:p>
        </p:txBody>
      </p:sp>
      <p:sp>
        <p:nvSpPr>
          <p:cNvPr id="473598563" name="Shape 18"/>
          <p:cNvSpPr/>
          <p:nvPr/>
        </p:nvSpPr>
        <p:spPr bwMode="auto">
          <a:xfrm>
            <a:off x="6995160" y="1005840"/>
            <a:ext cx="1965960" cy="219456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974400343" name="Shape 19"/>
          <p:cNvSpPr/>
          <p:nvPr/>
        </p:nvSpPr>
        <p:spPr bwMode="auto">
          <a:xfrm>
            <a:off x="6995160" y="1005840"/>
            <a:ext cx="1965960" cy="54864"/>
          </a:xfrm>
          <a:prstGeom prst="line">
            <a:avLst/>
          </a:prstGeom>
          <a:solidFill>
            <a:srgbClr val="06B6D4"/>
          </a:solidFill>
          <a:ln/>
        </p:spPr>
        <p:txBody>
          <a:bodyPr/>
          <a:lstStyle/>
          <a:p>
            <a:pPr>
              <a:defRPr/>
            </a:pPr>
            <a:endParaRPr lang="fr-FR"/>
          </a:p>
        </p:txBody>
      </p:sp>
      <p:pic>
        <p:nvPicPr>
          <p:cNvPr id="148744014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7680960" y="1188720"/>
            <a:ext cx="594360" cy="594360"/>
          </a:xfrm>
          <a:prstGeom prst="rect">
            <a:avLst/>
          </a:prstGeom>
        </p:spPr>
      </p:pic>
      <p:sp>
        <p:nvSpPr>
          <p:cNvPr id="445295279" name="Text 20"/>
          <p:cNvSpPr/>
          <p:nvPr/>
        </p:nvSpPr>
        <p:spPr bwMode="auto">
          <a:xfrm>
            <a:off x="7086600" y="18745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OpenTelemetry</a:t>
            </a:r>
            <a:endParaRPr lang="en-US" sz="1400"/>
          </a:p>
        </p:txBody>
      </p:sp>
      <p:sp>
        <p:nvSpPr>
          <p:cNvPr id="1780175245" name="Text 21"/>
          <p:cNvSpPr/>
          <p:nvPr/>
        </p:nvSpPr>
        <p:spPr bwMode="auto">
          <a:xfrm>
            <a:off x="7086600" y="21488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Tracing</a:t>
            </a:r>
            <a:endParaRPr lang="en-US" sz="1000"/>
          </a:p>
        </p:txBody>
      </p:sp>
      <p:sp>
        <p:nvSpPr>
          <p:cNvPr id="1253233197" name="Text 22"/>
          <p:cNvSpPr/>
          <p:nvPr/>
        </p:nvSpPr>
        <p:spPr bwMode="auto">
          <a:xfrm>
            <a:off x="7086600" y="24688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Trace ML pipeline requests, correlate events</a:t>
            </a:r>
            <a:endParaRPr lang="en-US" sz="1000"/>
          </a:p>
        </p:txBody>
      </p:sp>
      <p:pic>
        <p:nvPicPr>
          <p:cNvPr id="473463611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548640" y="3429000"/>
            <a:ext cx="274320" cy="274320"/>
          </a:xfrm>
          <a:prstGeom prst="rect">
            <a:avLst/>
          </a:prstGeom>
        </p:spPr>
      </p:pic>
      <p:sp>
        <p:nvSpPr>
          <p:cNvPr id="1046086243" name="Text 23"/>
          <p:cNvSpPr/>
          <p:nvPr/>
        </p:nvSpPr>
        <p:spPr bwMode="auto">
          <a:xfrm>
            <a:off x="914400" y="34015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 Vendor Lock-in</a:t>
            </a:r>
            <a:endParaRPr lang="en-US" sz="1100"/>
          </a:p>
        </p:txBody>
      </p:sp>
      <p:sp>
        <p:nvSpPr>
          <p:cNvPr id="1322891989" name="Text 24"/>
          <p:cNvSpPr/>
          <p:nvPr/>
        </p:nvSpPr>
        <p:spPr bwMode="auto">
          <a:xfrm>
            <a:off x="914400" y="36576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Open source, Apache 2.0</a:t>
            </a:r>
            <a:endParaRPr lang="en-US" sz="1000"/>
          </a:p>
        </p:txBody>
      </p:sp>
      <p:pic>
        <p:nvPicPr>
          <p:cNvPr id="1895331328" name="Image 5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2697480" y="3429000"/>
            <a:ext cx="274320" cy="274320"/>
          </a:xfrm>
          <a:prstGeom prst="rect">
            <a:avLst/>
          </a:prstGeom>
        </p:spPr>
      </p:pic>
      <p:sp>
        <p:nvSpPr>
          <p:cNvPr id="249728861" name="Text 25"/>
          <p:cNvSpPr/>
          <p:nvPr/>
        </p:nvSpPr>
        <p:spPr bwMode="auto">
          <a:xfrm>
            <a:off x="3063240" y="34015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10x Less Resources</a:t>
            </a:r>
            <a:endParaRPr lang="en-US" sz="1100"/>
          </a:p>
        </p:txBody>
      </p:sp>
      <p:sp>
        <p:nvSpPr>
          <p:cNvPr id="1477573657" name="Text 26"/>
          <p:cNvSpPr/>
          <p:nvPr/>
        </p:nvSpPr>
        <p:spPr bwMode="auto">
          <a:xfrm>
            <a:off x="3063240" y="36576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vs Prometheus at scale</a:t>
            </a:r>
            <a:endParaRPr lang="en-US" sz="1000"/>
          </a:p>
        </p:txBody>
      </p:sp>
      <p:pic>
        <p:nvPicPr>
          <p:cNvPr id="219882341" name="Image 6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4846320" y="3429000"/>
            <a:ext cx="274320" cy="274320"/>
          </a:xfrm>
          <a:prstGeom prst="rect">
            <a:avLst/>
          </a:prstGeom>
        </p:spPr>
      </p:pic>
      <p:sp>
        <p:nvSpPr>
          <p:cNvPr id="759290831" name="Text 27"/>
          <p:cNvSpPr/>
          <p:nvPr/>
        </p:nvSpPr>
        <p:spPr bwMode="auto">
          <a:xfrm>
            <a:off x="5212080" y="34015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PromQL Compatible</a:t>
            </a:r>
            <a:endParaRPr lang="en-US" sz="1100"/>
          </a:p>
        </p:txBody>
      </p:sp>
      <p:sp>
        <p:nvSpPr>
          <p:cNvPr id="1812798784" name="Text 28"/>
          <p:cNvSpPr/>
          <p:nvPr/>
        </p:nvSpPr>
        <p:spPr bwMode="auto">
          <a:xfrm>
            <a:off x="5212080" y="36576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Drop-in replacement</a:t>
            </a:r>
            <a:endParaRPr lang="en-US" sz="1000"/>
          </a:p>
        </p:txBody>
      </p:sp>
      <p:pic>
        <p:nvPicPr>
          <p:cNvPr id="1771790591" name="Image 7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995160" y="3429000"/>
            <a:ext cx="274320" cy="274320"/>
          </a:xfrm>
          <a:prstGeom prst="rect">
            <a:avLst/>
          </a:prstGeom>
        </p:spPr>
      </p:pic>
      <p:sp>
        <p:nvSpPr>
          <p:cNvPr id="69648927" name="Text 29"/>
          <p:cNvSpPr/>
          <p:nvPr/>
        </p:nvSpPr>
        <p:spPr bwMode="auto">
          <a:xfrm>
            <a:off x="7360920" y="34015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Battle-Tested</a:t>
            </a:r>
            <a:endParaRPr lang="en-US" sz="1100"/>
          </a:p>
        </p:txBody>
      </p:sp>
      <p:sp>
        <p:nvSpPr>
          <p:cNvPr id="1184349678" name="Text 30"/>
          <p:cNvSpPr/>
          <p:nvPr/>
        </p:nvSpPr>
        <p:spPr bwMode="auto">
          <a:xfrm>
            <a:off x="7360920" y="36576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Used by major tech cos</a:t>
            </a:r>
            <a:endParaRPr lang="en-US" sz="1000"/>
          </a:p>
        </p:txBody>
      </p:sp>
      <p:sp>
        <p:nvSpPr>
          <p:cNvPr id="280212047" name="Text 31"/>
          <p:cNvSpPr/>
          <p:nvPr/>
        </p:nvSpPr>
        <p:spPr bwMode="auto">
          <a:xfrm>
            <a:off x="54864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Why VictoriaMetrics? Lower operational cost, better compression, native clustering. All PromQL examples work as-is.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6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978774" name="Shape 0"/>
          <p:cNvSpPr/>
          <p:nvPr/>
        </p:nvSpPr>
        <p:spPr bwMode="auto">
          <a:xfrm>
            <a:off x="0" y="0"/>
            <a:ext cx="73152" cy="5143500"/>
          </a:xfrm>
          <a:prstGeom prst="lin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83663208" name="Text 1"/>
          <p:cNvSpPr/>
          <p:nvPr/>
        </p:nvSpPr>
        <p:spPr bwMode="auto">
          <a:xfrm>
            <a:off x="548640" y="320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3B82F6"/>
                </a:solidFill>
                <a:latin typeface="Arial"/>
                <a:ea typeface="Arial"/>
                <a:cs typeface="Arial"/>
              </a:rPr>
              <a:t>Deep Dive</a:t>
            </a:r>
            <a:endParaRPr lang="en-US" sz="1100"/>
          </a:p>
        </p:txBody>
      </p:sp>
      <p:sp>
        <p:nvSpPr>
          <p:cNvPr id="1995279590" name="Text 2"/>
          <p:cNvSpPr/>
          <p:nvPr/>
        </p:nvSpPr>
        <p:spPr bwMode="auto"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Structured Logging with Loki</a:t>
            </a:r>
            <a:endParaRPr lang="en-US" sz="2400"/>
          </a:p>
        </p:txBody>
      </p:sp>
      <p:sp>
        <p:nvSpPr>
          <p:cNvPr id="1046740475" name="Text 3"/>
          <p:cNvSpPr/>
          <p:nvPr/>
        </p:nvSpPr>
        <p:spPr bwMode="auto">
          <a:xfrm>
            <a:off x="54864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Log Schema for ML Security</a:t>
            </a:r>
            <a:endParaRPr lang="en-US" sz="1300"/>
          </a:p>
        </p:txBody>
      </p:sp>
      <p:sp>
        <p:nvSpPr>
          <p:cNvPr id="1923074090" name="Shape 4"/>
          <p:cNvSpPr/>
          <p:nvPr/>
        </p:nvSpPr>
        <p:spPr bwMode="auto">
          <a:xfrm>
            <a:off x="548640" y="1417320"/>
            <a:ext cx="3840480" cy="2194560"/>
          </a:xfrm>
          <a:prstGeom prst="line">
            <a:avLst/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579077260" name="Shape 5"/>
          <p:cNvSpPr/>
          <p:nvPr/>
        </p:nvSpPr>
        <p:spPr bwMode="auto">
          <a:xfrm>
            <a:off x="548640" y="1417320"/>
            <a:ext cx="3840480" cy="32004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829409732" name="Text 6"/>
          <p:cNvSpPr/>
          <p:nvPr/>
        </p:nvSpPr>
        <p:spPr bwMode="auto">
          <a:xfrm>
            <a:off x="685800" y="14630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log_entry.json</a:t>
            </a:r>
            <a:endParaRPr lang="en-US" sz="1000"/>
          </a:p>
        </p:txBody>
      </p:sp>
      <p:sp>
        <p:nvSpPr>
          <p:cNvPr id="1070819898" name="Text 7"/>
          <p:cNvSpPr/>
          <p:nvPr/>
        </p:nvSpPr>
        <p:spPr bwMode="auto">
          <a:xfrm>
            <a:off x="685800" y="178308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{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"timestamp": "2025-02-01T...",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"level": "security",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"model": "fraud-detector-v2",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"event_type": "adversarial_detected",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"user_id": "usr_abc123",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"confidence": 0.94,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"reconstruction_error": 2.7,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"trace_id": "abc123..."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1000"/>
          </a:p>
        </p:txBody>
      </p:sp>
      <p:sp>
        <p:nvSpPr>
          <p:cNvPr id="1821446941" name="Text 8"/>
          <p:cNvSpPr/>
          <p:nvPr/>
        </p:nvSpPr>
        <p:spPr bwMode="auto">
          <a:xfrm>
            <a:off x="475488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LogQL Investigation Queries</a:t>
            </a:r>
            <a:endParaRPr lang="en-US" sz="1300"/>
          </a:p>
        </p:txBody>
      </p:sp>
      <p:sp>
        <p:nvSpPr>
          <p:cNvPr id="594849079" name="Shape 9"/>
          <p:cNvSpPr/>
          <p:nvPr/>
        </p:nvSpPr>
        <p:spPr bwMode="auto">
          <a:xfrm>
            <a:off x="4754880" y="1417320"/>
            <a:ext cx="4023360" cy="2194560"/>
          </a:xfrm>
          <a:prstGeom prst="line">
            <a:avLst/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328184620" name="Shape 10"/>
          <p:cNvSpPr/>
          <p:nvPr/>
        </p:nvSpPr>
        <p:spPr bwMode="auto">
          <a:xfrm>
            <a:off x="4754880" y="1417320"/>
            <a:ext cx="4023360" cy="32004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4908586" name="Text 11"/>
          <p:cNvSpPr/>
          <p:nvPr/>
        </p:nvSpPr>
        <p:spPr bwMode="auto">
          <a:xfrm>
            <a:off x="4892039" y="14630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investigation.logql</a:t>
            </a:r>
            <a:endParaRPr lang="en-US" sz="1000"/>
          </a:p>
        </p:txBody>
      </p:sp>
      <p:sp>
        <p:nvSpPr>
          <p:cNvPr id="1270887162" name="Text 12"/>
          <p:cNvSpPr/>
          <p:nvPr/>
        </p:nvSpPr>
        <p:spPr bwMode="auto">
          <a:xfrm>
            <a:off x="4892039" y="178308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# Find adversarial detections for user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{job="ml-security"} |= "adversarial"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| json | user_id="usr_abc123"</a:t>
            </a:r>
            <a:endParaRPr lang="en-US" sz="1000"/>
          </a:p>
          <a:p>
            <a:pPr marL="0" indent="0">
              <a:buNone/>
              <a:defRPr/>
            </a:pP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# High reconstruction error (24h)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{job="ml-security"} | json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| reconstruction_error &gt; 2.5</a:t>
            </a:r>
            <a:endParaRPr lang="en-US" sz="1000"/>
          </a:p>
          <a:p>
            <a:pPr marL="0" indent="0">
              <a:buNone/>
              <a:defRPr/>
            </a:pP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# Prompt injection attempts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{job="llm-security"} |= "injection"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| json | injection_score &gt; 0.8</a:t>
            </a:r>
            <a:endParaRPr lang="en-US" sz="1000"/>
          </a:p>
        </p:txBody>
      </p:sp>
      <p:sp>
        <p:nvSpPr>
          <p:cNvPr id="1785081891" name="Shape 13"/>
          <p:cNvSpPr/>
          <p:nvPr/>
        </p:nvSpPr>
        <p:spPr bwMode="auto">
          <a:xfrm>
            <a:off x="548640" y="3794760"/>
            <a:ext cx="8229600" cy="64008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49848606" name="Text 14"/>
          <p:cNvSpPr/>
          <p:nvPr/>
        </p:nvSpPr>
        <p:spPr bwMode="auto">
          <a:xfrm>
            <a:off x="731520" y="38862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Retention Policies</a:t>
            </a:r>
            <a:endParaRPr lang="en-US" sz="1100"/>
          </a:p>
        </p:txBody>
      </p:sp>
      <p:sp>
        <p:nvSpPr>
          <p:cNvPr id="628172229" name="Text 15"/>
          <p:cNvSpPr/>
          <p:nvPr/>
        </p:nvSpPr>
        <p:spPr bwMode="auto">
          <a:xfrm>
            <a:off x="731520" y="41148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94A3B8"/>
                </a:solidFill>
                <a:latin typeface="Arial"/>
                <a:ea typeface="Arial"/>
                <a:cs typeface="Arial"/>
              </a:rPr>
              <a:t>Security: 90 days   ·   Predictions: 30 days   ·   Debug: 7 days</a:t>
            </a:r>
            <a:endParaRPr lang="en-US" sz="1200"/>
          </a:p>
        </p:txBody>
      </p:sp>
      <p:sp>
        <p:nvSpPr>
          <p:cNvPr id="2100165055" name="Text 16"/>
          <p:cNvSpPr/>
          <p:nvPr/>
        </p:nvSpPr>
        <p:spPr bwMode="auto">
          <a:xfrm>
            <a:off x="54864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0B981"/>
                </a:solidFill>
                <a:latin typeface="Arial"/>
                <a:ea typeface="Arial"/>
                <a:cs typeface="Arial"/>
              </a:rPr>
              <a:t>Index on event_type for fast filtering. Keep cardinality low.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7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386731" name="Shape 0"/>
          <p:cNvSpPr/>
          <p:nvPr/>
        </p:nvSpPr>
        <p:spPr bwMode="auto">
          <a:xfrm>
            <a:off x="0" y="0"/>
            <a:ext cx="73152" cy="5143500"/>
          </a:xfrm>
          <a:prstGeom prst="lin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330189556" name="Text 1"/>
          <p:cNvSpPr/>
          <p:nvPr/>
        </p:nvSpPr>
        <p:spPr bwMode="auto">
          <a:xfrm>
            <a:off x="548640" y="320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3B82F6"/>
                </a:solidFill>
                <a:latin typeface="Arial"/>
                <a:ea typeface="Arial"/>
                <a:cs typeface="Arial"/>
              </a:rPr>
              <a:t>Deep Dive</a:t>
            </a:r>
            <a:endParaRPr lang="en-US" sz="1100"/>
          </a:p>
        </p:txBody>
      </p:sp>
      <p:sp>
        <p:nvSpPr>
          <p:cNvPr id="1758485321" name="Text 2"/>
          <p:cNvSpPr/>
          <p:nvPr/>
        </p:nvSpPr>
        <p:spPr bwMode="auto"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Grafana Security Dashboards</a:t>
            </a:r>
            <a:endParaRPr lang="en-US" sz="2400"/>
          </a:p>
        </p:txBody>
      </p:sp>
      <p:sp>
        <p:nvSpPr>
          <p:cNvPr id="380563224" name="Shape 3"/>
          <p:cNvSpPr/>
          <p:nvPr/>
        </p:nvSpPr>
        <p:spPr bwMode="auto">
          <a:xfrm>
            <a:off x="548640" y="1097280"/>
            <a:ext cx="8229600" cy="128016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430591872" name="Text 4"/>
          <p:cNvSpPr/>
          <p:nvPr/>
        </p:nvSpPr>
        <p:spPr bwMode="auto">
          <a:xfrm>
            <a:off x="685800" y="1188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ML Security Overview</a:t>
            </a:r>
            <a:endParaRPr lang="en-US" sz="1200"/>
          </a:p>
        </p:txBody>
      </p:sp>
      <p:sp>
        <p:nvSpPr>
          <p:cNvPr id="939718175" name="Text 5"/>
          <p:cNvSpPr/>
          <p:nvPr/>
        </p:nvSpPr>
        <p:spPr bwMode="auto">
          <a:xfrm>
            <a:off x="731520" y="1508759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600" b="1">
                <a:solidFill>
                  <a:srgbClr val="EF4444"/>
                </a:solidFill>
                <a:latin typeface="Arial Black"/>
                <a:ea typeface="Arial Black"/>
                <a:cs typeface="Arial Black"/>
              </a:rPr>
              <a:t>127</a:t>
            </a:r>
            <a:endParaRPr lang="en-US" sz="2600"/>
          </a:p>
        </p:txBody>
      </p:sp>
      <p:sp>
        <p:nvSpPr>
          <p:cNvPr id="2072446139" name="Text 6"/>
          <p:cNvSpPr/>
          <p:nvPr/>
        </p:nvSpPr>
        <p:spPr bwMode="auto">
          <a:xfrm>
            <a:off x="731520" y="1965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</a:rPr>
              <a:t>Adversarial</a:t>
            </a:r>
            <a:endParaRPr lang="en-US" sz="900"/>
          </a:p>
          <a:p>
            <a:pPr marL="0" indent="0" algn="ctr">
              <a:buNone/>
              <a:defRPr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</a:rPr>
              <a:t>Detections (24h)</a:t>
            </a:r>
            <a:endParaRPr lang="en-US" sz="900"/>
          </a:p>
        </p:txBody>
      </p:sp>
      <p:sp>
        <p:nvSpPr>
          <p:cNvPr id="2082113135" name="Text 7"/>
          <p:cNvSpPr/>
          <p:nvPr/>
        </p:nvSpPr>
        <p:spPr bwMode="auto">
          <a:xfrm>
            <a:off x="2331720" y="1508759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600" b="1">
                <a:solidFill>
                  <a:srgbClr val="F59E0B"/>
                </a:solidFill>
                <a:latin typeface="Arial Black"/>
                <a:ea typeface="Arial Black"/>
                <a:cs typeface="Arial Black"/>
              </a:rPr>
              <a:t>42</a:t>
            </a:r>
            <a:endParaRPr lang="en-US" sz="2600"/>
          </a:p>
        </p:txBody>
      </p:sp>
      <p:sp>
        <p:nvSpPr>
          <p:cNvPr id="306011865" name="Text 8"/>
          <p:cNvSpPr/>
          <p:nvPr/>
        </p:nvSpPr>
        <p:spPr bwMode="auto">
          <a:xfrm>
            <a:off x="2331720" y="1965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</a:rPr>
              <a:t>Injection</a:t>
            </a:r>
            <a:endParaRPr lang="en-US" sz="900"/>
          </a:p>
          <a:p>
            <a:pPr marL="0" indent="0" algn="ctr">
              <a:buNone/>
              <a:defRPr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</a:rPr>
              <a:t>Attempts</a:t>
            </a:r>
            <a:endParaRPr lang="en-US" sz="900"/>
          </a:p>
        </p:txBody>
      </p:sp>
      <p:sp>
        <p:nvSpPr>
          <p:cNvPr id="1790100003" name="Text 9"/>
          <p:cNvSpPr/>
          <p:nvPr/>
        </p:nvSpPr>
        <p:spPr bwMode="auto">
          <a:xfrm>
            <a:off x="3931920" y="1508759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600" b="1">
                <a:solidFill>
                  <a:srgbClr val="10B981"/>
                </a:solidFill>
                <a:latin typeface="Arial Black"/>
                <a:ea typeface="Arial Black"/>
                <a:cs typeface="Arial Black"/>
              </a:rPr>
              <a:t>0.18</a:t>
            </a:r>
            <a:endParaRPr lang="en-US" sz="2600"/>
          </a:p>
        </p:txBody>
      </p:sp>
      <p:sp>
        <p:nvSpPr>
          <p:cNvPr id="214558350" name="Text 10"/>
          <p:cNvSpPr/>
          <p:nvPr/>
        </p:nvSpPr>
        <p:spPr bwMode="auto">
          <a:xfrm>
            <a:off x="3931920" y="1965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</a:rPr>
              <a:t>Model Drift</a:t>
            </a:r>
            <a:endParaRPr lang="en-US" sz="900"/>
          </a:p>
          <a:p>
            <a:pPr marL="0" indent="0" algn="ctr">
              <a:buNone/>
              <a:defRPr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</a:rPr>
              <a:t>Score</a:t>
            </a:r>
            <a:endParaRPr lang="en-US" sz="900"/>
          </a:p>
        </p:txBody>
      </p:sp>
      <p:sp>
        <p:nvSpPr>
          <p:cNvPr id="1174646506" name="Text 11"/>
          <p:cNvSpPr/>
          <p:nvPr/>
        </p:nvSpPr>
        <p:spPr bwMode="auto">
          <a:xfrm>
            <a:off x="5532120" y="1508759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600" b="1">
                <a:solidFill>
                  <a:srgbClr val="8B5CF6"/>
                </a:solidFill>
                <a:latin typeface="Arial Black"/>
                <a:ea typeface="Arial Black"/>
                <a:cs typeface="Arial Black"/>
              </a:rPr>
              <a:t>3</a:t>
            </a:r>
            <a:endParaRPr lang="en-US" sz="2600"/>
          </a:p>
        </p:txBody>
      </p:sp>
      <p:sp>
        <p:nvSpPr>
          <p:cNvPr id="1030672270" name="Text 12"/>
          <p:cNvSpPr/>
          <p:nvPr/>
        </p:nvSpPr>
        <p:spPr bwMode="auto">
          <a:xfrm>
            <a:off x="5532120" y="1965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</a:rPr>
              <a:t>Extraction</a:t>
            </a:r>
            <a:endParaRPr lang="en-US" sz="900"/>
          </a:p>
          <a:p>
            <a:pPr marL="0" indent="0" algn="ctr">
              <a:buNone/>
              <a:defRPr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</a:rPr>
              <a:t>Attempts</a:t>
            </a:r>
            <a:endParaRPr lang="en-US" sz="900"/>
          </a:p>
        </p:txBody>
      </p:sp>
      <p:sp>
        <p:nvSpPr>
          <p:cNvPr id="370677658" name="Text 13"/>
          <p:cNvSpPr/>
          <p:nvPr/>
        </p:nvSpPr>
        <p:spPr bwMode="auto">
          <a:xfrm>
            <a:off x="7132320" y="1508759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600" b="1">
                <a:solidFill>
                  <a:srgbClr val="3B82F6"/>
                </a:solidFill>
                <a:latin typeface="Arial Black"/>
                <a:ea typeface="Arial Black"/>
                <a:cs typeface="Arial Black"/>
              </a:rPr>
              <a:t>2</a:t>
            </a:r>
            <a:endParaRPr lang="en-US" sz="2600"/>
          </a:p>
        </p:txBody>
      </p:sp>
      <p:sp>
        <p:nvSpPr>
          <p:cNvPr id="453091189" name="Text 14"/>
          <p:cNvSpPr/>
          <p:nvPr/>
        </p:nvSpPr>
        <p:spPr bwMode="auto">
          <a:xfrm>
            <a:off x="7132320" y="1965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</a:rPr>
              <a:t>Active</a:t>
            </a:r>
            <a:endParaRPr lang="en-US" sz="900"/>
          </a:p>
          <a:p>
            <a:pPr marL="0" indent="0" algn="ctr">
              <a:buNone/>
              <a:defRPr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</a:rPr>
              <a:t>Alerts</a:t>
            </a:r>
            <a:endParaRPr lang="en-US" sz="900"/>
          </a:p>
        </p:txBody>
      </p:sp>
      <p:sp>
        <p:nvSpPr>
          <p:cNvPr id="555298778" name="Text 15"/>
          <p:cNvSpPr/>
          <p:nvPr/>
        </p:nvSpPr>
        <p:spPr bwMode="auto">
          <a:xfrm>
            <a:off x="548640" y="2606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Dashboard Panels</a:t>
            </a:r>
            <a:endParaRPr lang="en-US" sz="1400"/>
          </a:p>
        </p:txBody>
      </p:sp>
      <p:sp>
        <p:nvSpPr>
          <p:cNvPr id="1680017604" name="Shape 16"/>
          <p:cNvSpPr/>
          <p:nvPr/>
        </p:nvSpPr>
        <p:spPr bwMode="auto">
          <a:xfrm>
            <a:off x="548640" y="3017519"/>
            <a:ext cx="4023360" cy="64008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531840680" name="Text 17"/>
          <p:cNvSpPr/>
          <p:nvPr/>
        </p:nvSpPr>
        <p:spPr bwMode="auto">
          <a:xfrm>
            <a:off x="685800" y="3108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3B82F6"/>
                </a:solidFill>
                <a:latin typeface="Arial"/>
                <a:ea typeface="Arial"/>
                <a:cs typeface="Arial"/>
              </a:rPr>
              <a:t>Time Series</a:t>
            </a:r>
            <a:endParaRPr lang="en-US" sz="1100"/>
          </a:p>
        </p:txBody>
      </p:sp>
      <p:sp>
        <p:nvSpPr>
          <p:cNvPr id="1290718369" name="Text 18"/>
          <p:cNvSpPr/>
          <p:nvPr/>
        </p:nvSpPr>
        <p:spPr bwMode="auto">
          <a:xfrm>
            <a:off x="685800" y="3337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Adversarial detections over time, confidence distributions</a:t>
            </a:r>
            <a:endParaRPr lang="en-US" sz="1000"/>
          </a:p>
        </p:txBody>
      </p:sp>
      <p:sp>
        <p:nvSpPr>
          <p:cNvPr id="1521157108" name="Shape 19"/>
          <p:cNvSpPr/>
          <p:nvPr/>
        </p:nvSpPr>
        <p:spPr bwMode="auto">
          <a:xfrm>
            <a:off x="4846320" y="3017519"/>
            <a:ext cx="4023360" cy="64008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517168004" name="Text 20"/>
          <p:cNvSpPr/>
          <p:nvPr/>
        </p:nvSpPr>
        <p:spPr bwMode="auto">
          <a:xfrm>
            <a:off x="4983480" y="3108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3B82F6"/>
                </a:solidFill>
                <a:latin typeface="Arial"/>
                <a:ea typeface="Arial"/>
                <a:cs typeface="Arial"/>
              </a:rPr>
              <a:t>Table</a:t>
            </a:r>
            <a:endParaRPr lang="en-US" sz="1100"/>
          </a:p>
        </p:txBody>
      </p:sp>
      <p:sp>
        <p:nvSpPr>
          <p:cNvPr id="1320426207" name="Text 21"/>
          <p:cNvSpPr/>
          <p:nvPr/>
        </p:nvSpPr>
        <p:spPr bwMode="auto">
          <a:xfrm>
            <a:off x="4983480" y="3337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Top suspicious users/IPs, recent security events</a:t>
            </a:r>
            <a:endParaRPr lang="en-US" sz="1000"/>
          </a:p>
        </p:txBody>
      </p:sp>
      <p:sp>
        <p:nvSpPr>
          <p:cNvPr id="808201397" name="Shape 22"/>
          <p:cNvSpPr/>
          <p:nvPr/>
        </p:nvSpPr>
        <p:spPr bwMode="auto">
          <a:xfrm>
            <a:off x="548640" y="3794760"/>
            <a:ext cx="4023360" cy="64008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124562613" name="Text 23"/>
          <p:cNvSpPr/>
          <p:nvPr/>
        </p:nvSpPr>
        <p:spPr bwMode="auto">
          <a:xfrm>
            <a:off x="685800" y="3886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3B82F6"/>
                </a:solidFill>
                <a:latin typeface="Arial"/>
                <a:ea typeface="Arial"/>
                <a:cs typeface="Arial"/>
              </a:rPr>
              <a:t>Logs Panel</a:t>
            </a:r>
            <a:endParaRPr lang="en-US" sz="1100"/>
          </a:p>
        </p:txBody>
      </p:sp>
      <p:sp>
        <p:nvSpPr>
          <p:cNvPr id="432738265" name="Text 24"/>
          <p:cNvSpPr/>
          <p:nvPr/>
        </p:nvSpPr>
        <p:spPr bwMode="auto">
          <a:xfrm>
            <a:off x="685800" y="4114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Live security event stream with trace correlation</a:t>
            </a:r>
            <a:endParaRPr lang="en-US" sz="1000"/>
          </a:p>
        </p:txBody>
      </p:sp>
      <p:sp>
        <p:nvSpPr>
          <p:cNvPr id="1233649367" name="Shape 25"/>
          <p:cNvSpPr/>
          <p:nvPr/>
        </p:nvSpPr>
        <p:spPr bwMode="auto">
          <a:xfrm>
            <a:off x="4846320" y="3794760"/>
            <a:ext cx="4023360" cy="64008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250022545" name="Text 26"/>
          <p:cNvSpPr/>
          <p:nvPr/>
        </p:nvSpPr>
        <p:spPr bwMode="auto">
          <a:xfrm>
            <a:off x="4983480" y="3886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3B82F6"/>
                </a:solidFill>
                <a:latin typeface="Arial"/>
                <a:ea typeface="Arial"/>
                <a:cs typeface="Arial"/>
              </a:rPr>
              <a:t>Alert List</a:t>
            </a:r>
            <a:endParaRPr lang="en-US" sz="1100"/>
          </a:p>
        </p:txBody>
      </p:sp>
      <p:sp>
        <p:nvSpPr>
          <p:cNvPr id="1489741533" name="Text 27"/>
          <p:cNvSpPr/>
          <p:nvPr/>
        </p:nvSpPr>
        <p:spPr bwMode="auto">
          <a:xfrm>
            <a:off x="4983480" y="4114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Active incidents with linked runbooks</a:t>
            </a:r>
            <a:endParaRPr lang="en-US" sz="1000"/>
          </a:p>
        </p:txBody>
      </p:sp>
      <p:sp>
        <p:nvSpPr>
          <p:cNvPr id="1135002551" name="Text 28"/>
          <p:cNvSpPr/>
          <p:nvPr/>
        </p:nvSpPr>
        <p:spPr bwMode="auto">
          <a:xfrm>
            <a:off x="54864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94A3B8"/>
                </a:solidFill>
                <a:latin typeface="Arial"/>
                <a:ea typeface="Arial"/>
                <a:cs typeface="Arial"/>
              </a:rPr>
              <a:t>Dashboard JSONs available in the GitHub repo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8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274871" name="Shape 0"/>
          <p:cNvSpPr/>
          <p:nvPr/>
        </p:nvSpPr>
        <p:spPr bwMode="auto">
          <a:xfrm>
            <a:off x="0" y="0"/>
            <a:ext cx="73152" cy="5143500"/>
          </a:xfrm>
          <a:prstGeom prst="lin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175365269" name="Text 1"/>
          <p:cNvSpPr/>
          <p:nvPr/>
        </p:nvSpPr>
        <p:spPr bwMode="auto">
          <a:xfrm>
            <a:off x="548640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06B6D4"/>
                </a:solidFill>
                <a:latin typeface="Arial Black"/>
                <a:ea typeface="Arial Black"/>
                <a:cs typeface="Arial Black"/>
              </a:rPr>
              <a:t>05</a:t>
            </a:r>
            <a:endParaRPr lang="en-US" sz="2400"/>
          </a:p>
        </p:txBody>
      </p:sp>
      <p:sp>
        <p:nvSpPr>
          <p:cNvPr id="909694722" name="Text 2"/>
          <p:cNvSpPr/>
          <p:nvPr/>
        </p:nvSpPr>
        <p:spPr bwMode="auto">
          <a:xfrm>
            <a:off x="118872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SOC Integration Architecture</a:t>
            </a:r>
            <a:endParaRPr lang="en-US" sz="2400"/>
          </a:p>
        </p:txBody>
      </p:sp>
      <p:sp>
        <p:nvSpPr>
          <p:cNvPr id="1286459126" name="Text 3"/>
          <p:cNvSpPr/>
          <p:nvPr/>
        </p:nvSpPr>
        <p:spPr bwMode="auto">
          <a:xfrm>
            <a:off x="548640" y="960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ML LAYER</a:t>
            </a:r>
            <a:endParaRPr lang="en-US" sz="1000"/>
          </a:p>
        </p:txBody>
      </p:sp>
      <p:sp>
        <p:nvSpPr>
          <p:cNvPr id="1881308901" name="Shape 4"/>
          <p:cNvSpPr/>
          <p:nvPr/>
        </p:nvSpPr>
        <p:spPr bwMode="auto">
          <a:xfrm>
            <a:off x="548640" y="1325880"/>
            <a:ext cx="1920240" cy="457200"/>
          </a:xfrm>
          <a:prstGeom prst="line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498946677" name="Text 5"/>
          <p:cNvSpPr/>
          <p:nvPr/>
        </p:nvSpPr>
        <p:spPr bwMode="auto">
          <a:xfrm>
            <a:off x="548640" y="1325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E2E8F0"/>
                </a:solidFill>
                <a:latin typeface="Arial"/>
                <a:ea typeface="Arial"/>
                <a:cs typeface="Arial"/>
              </a:rPr>
              <a:t>ML Models</a:t>
            </a:r>
            <a:endParaRPr lang="en-US" sz="1000"/>
          </a:p>
        </p:txBody>
      </p:sp>
      <p:sp>
        <p:nvSpPr>
          <p:cNvPr id="1825350248" name="Shape 6"/>
          <p:cNvSpPr/>
          <p:nvPr/>
        </p:nvSpPr>
        <p:spPr bwMode="auto">
          <a:xfrm>
            <a:off x="548640" y="1874520"/>
            <a:ext cx="1920240" cy="457200"/>
          </a:xfrm>
          <a:prstGeom prst="line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171544001" name="Text 7"/>
          <p:cNvSpPr/>
          <p:nvPr/>
        </p:nvSpPr>
        <p:spPr bwMode="auto">
          <a:xfrm>
            <a:off x="548640" y="1874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E2E8F0"/>
                </a:solidFill>
                <a:latin typeface="Arial"/>
                <a:ea typeface="Arial"/>
                <a:cs typeface="Arial"/>
              </a:rPr>
              <a:t>LLM Apps</a:t>
            </a:r>
            <a:endParaRPr lang="en-US" sz="1000"/>
          </a:p>
        </p:txBody>
      </p:sp>
      <p:sp>
        <p:nvSpPr>
          <p:cNvPr id="101926281" name="Shape 8"/>
          <p:cNvSpPr/>
          <p:nvPr/>
        </p:nvSpPr>
        <p:spPr bwMode="auto">
          <a:xfrm>
            <a:off x="548640" y="2423160"/>
            <a:ext cx="1920240" cy="457200"/>
          </a:xfrm>
          <a:prstGeom prst="line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897949502" name="Text 9"/>
          <p:cNvSpPr/>
          <p:nvPr/>
        </p:nvSpPr>
        <p:spPr bwMode="auto">
          <a:xfrm>
            <a:off x="548640" y="2423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E2E8F0"/>
                </a:solidFill>
                <a:latin typeface="Arial"/>
                <a:ea typeface="Arial"/>
                <a:cs typeface="Arial"/>
              </a:rPr>
              <a:t>Pipelines</a:t>
            </a:r>
            <a:endParaRPr lang="en-US" sz="1000"/>
          </a:p>
        </p:txBody>
      </p:sp>
      <p:sp>
        <p:nvSpPr>
          <p:cNvPr id="2030594244" name="Text 10"/>
          <p:cNvSpPr/>
          <p:nvPr/>
        </p:nvSpPr>
        <p:spPr bwMode="auto">
          <a:xfrm>
            <a:off x="2468880" y="1691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>
                <a:solidFill>
                  <a:srgbClr val="94A3B8"/>
                </a:solidFill>
                <a:latin typeface="Arial"/>
                <a:ea typeface="Arial"/>
                <a:cs typeface="Arial"/>
              </a:rPr>
              <a:t>→</a:t>
            </a:r>
            <a:endParaRPr lang="en-US" sz="1600"/>
          </a:p>
        </p:txBody>
      </p:sp>
      <p:sp>
        <p:nvSpPr>
          <p:cNvPr id="765591893" name="Text 11"/>
          <p:cNvSpPr/>
          <p:nvPr/>
        </p:nvSpPr>
        <p:spPr bwMode="auto">
          <a:xfrm>
            <a:off x="2743200" y="960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EXPORTERS</a:t>
            </a:r>
            <a:endParaRPr lang="en-US" sz="1000"/>
          </a:p>
        </p:txBody>
      </p:sp>
      <p:sp>
        <p:nvSpPr>
          <p:cNvPr id="1699528600" name="Shape 12"/>
          <p:cNvSpPr/>
          <p:nvPr/>
        </p:nvSpPr>
        <p:spPr bwMode="auto">
          <a:xfrm>
            <a:off x="2743200" y="1325880"/>
            <a:ext cx="1920240" cy="457200"/>
          </a:xfrm>
          <a:prstGeom prst="line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011584284" name="Text 13"/>
          <p:cNvSpPr/>
          <p:nvPr/>
        </p:nvSpPr>
        <p:spPr bwMode="auto">
          <a:xfrm>
            <a:off x="2743200" y="1325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E2E8F0"/>
                </a:solidFill>
                <a:latin typeface="Arial"/>
                <a:ea typeface="Arial"/>
                <a:cs typeface="Arial"/>
              </a:rPr>
              <a:t>ML Security Exporter</a:t>
            </a:r>
            <a:endParaRPr lang="en-US" sz="1000"/>
          </a:p>
        </p:txBody>
      </p:sp>
      <p:sp>
        <p:nvSpPr>
          <p:cNvPr id="1428998012" name="Shape 14"/>
          <p:cNvSpPr/>
          <p:nvPr/>
        </p:nvSpPr>
        <p:spPr bwMode="auto">
          <a:xfrm>
            <a:off x="2743200" y="1874520"/>
            <a:ext cx="1920240" cy="457200"/>
          </a:xfrm>
          <a:prstGeom prst="line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60376386" name="Text 15"/>
          <p:cNvSpPr/>
          <p:nvPr/>
        </p:nvSpPr>
        <p:spPr bwMode="auto">
          <a:xfrm>
            <a:off x="2743200" y="1874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E2E8F0"/>
                </a:solidFill>
                <a:latin typeface="Arial"/>
                <a:ea typeface="Arial"/>
                <a:cs typeface="Arial"/>
              </a:rPr>
              <a:t>OTel Collector</a:t>
            </a:r>
            <a:endParaRPr lang="en-US" sz="1000"/>
          </a:p>
        </p:txBody>
      </p:sp>
      <p:sp>
        <p:nvSpPr>
          <p:cNvPr id="2143916322" name="Shape 16"/>
          <p:cNvSpPr/>
          <p:nvPr/>
        </p:nvSpPr>
        <p:spPr bwMode="auto">
          <a:xfrm>
            <a:off x="2743200" y="2423160"/>
            <a:ext cx="1920240" cy="457200"/>
          </a:xfrm>
          <a:prstGeom prst="line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100811796" name="Text 17"/>
          <p:cNvSpPr/>
          <p:nvPr/>
        </p:nvSpPr>
        <p:spPr bwMode="auto">
          <a:xfrm>
            <a:off x="2743200" y="2423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E2E8F0"/>
                </a:solidFill>
                <a:latin typeface="Arial"/>
                <a:ea typeface="Arial"/>
                <a:cs typeface="Arial"/>
              </a:rPr>
              <a:t>Promtail</a:t>
            </a:r>
            <a:endParaRPr lang="en-US" sz="1000"/>
          </a:p>
        </p:txBody>
      </p:sp>
      <p:sp>
        <p:nvSpPr>
          <p:cNvPr id="684297298" name="Text 18"/>
          <p:cNvSpPr/>
          <p:nvPr/>
        </p:nvSpPr>
        <p:spPr bwMode="auto">
          <a:xfrm>
            <a:off x="4663440" y="1691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>
                <a:solidFill>
                  <a:srgbClr val="94A3B8"/>
                </a:solidFill>
                <a:latin typeface="Arial"/>
                <a:ea typeface="Arial"/>
                <a:cs typeface="Arial"/>
              </a:rPr>
              <a:t>→</a:t>
            </a:r>
            <a:endParaRPr lang="en-US" sz="1600"/>
          </a:p>
        </p:txBody>
      </p:sp>
      <p:sp>
        <p:nvSpPr>
          <p:cNvPr id="1085367316" name="Text 19"/>
          <p:cNvSpPr/>
          <p:nvPr/>
        </p:nvSpPr>
        <p:spPr bwMode="auto">
          <a:xfrm>
            <a:off x="4937760" y="960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OBSERVABILITY</a:t>
            </a:r>
            <a:endParaRPr lang="en-US" sz="1000"/>
          </a:p>
        </p:txBody>
      </p:sp>
      <p:sp>
        <p:nvSpPr>
          <p:cNvPr id="721786463" name="Shape 20"/>
          <p:cNvSpPr/>
          <p:nvPr/>
        </p:nvSpPr>
        <p:spPr bwMode="auto">
          <a:xfrm>
            <a:off x="4937760" y="1325880"/>
            <a:ext cx="1920240" cy="457200"/>
          </a:xfrm>
          <a:prstGeom prst="line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07188408" name="Text 21"/>
          <p:cNvSpPr/>
          <p:nvPr/>
        </p:nvSpPr>
        <p:spPr bwMode="auto">
          <a:xfrm>
            <a:off x="4937760" y="1325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E2E8F0"/>
                </a:solidFill>
                <a:latin typeface="Arial"/>
                <a:ea typeface="Arial"/>
                <a:cs typeface="Arial"/>
              </a:rPr>
              <a:t>VictoriaMetrics</a:t>
            </a:r>
            <a:endParaRPr lang="en-US" sz="1000"/>
          </a:p>
        </p:txBody>
      </p:sp>
      <p:sp>
        <p:nvSpPr>
          <p:cNvPr id="1217738131" name="Shape 22"/>
          <p:cNvSpPr/>
          <p:nvPr/>
        </p:nvSpPr>
        <p:spPr bwMode="auto">
          <a:xfrm>
            <a:off x="4937760" y="1874520"/>
            <a:ext cx="1920240" cy="457200"/>
          </a:xfrm>
          <a:prstGeom prst="line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059261188" name="Text 23"/>
          <p:cNvSpPr/>
          <p:nvPr/>
        </p:nvSpPr>
        <p:spPr bwMode="auto">
          <a:xfrm>
            <a:off x="4937760" y="1874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E2E8F0"/>
                </a:solidFill>
                <a:latin typeface="Arial"/>
                <a:ea typeface="Arial"/>
                <a:cs typeface="Arial"/>
              </a:rPr>
              <a:t>Loki</a:t>
            </a:r>
            <a:endParaRPr lang="en-US" sz="1000"/>
          </a:p>
        </p:txBody>
      </p:sp>
      <p:sp>
        <p:nvSpPr>
          <p:cNvPr id="878669160" name="Shape 24"/>
          <p:cNvSpPr/>
          <p:nvPr/>
        </p:nvSpPr>
        <p:spPr bwMode="auto">
          <a:xfrm>
            <a:off x="4937760" y="2423160"/>
            <a:ext cx="1920240" cy="457200"/>
          </a:xfrm>
          <a:prstGeom prst="line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680823794" name="Text 25"/>
          <p:cNvSpPr/>
          <p:nvPr/>
        </p:nvSpPr>
        <p:spPr bwMode="auto">
          <a:xfrm>
            <a:off x="4937760" y="2423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E2E8F0"/>
                </a:solidFill>
                <a:latin typeface="Arial"/>
                <a:ea typeface="Arial"/>
                <a:cs typeface="Arial"/>
              </a:rPr>
              <a:t>Grafana</a:t>
            </a:r>
            <a:endParaRPr lang="en-US" sz="1000"/>
          </a:p>
        </p:txBody>
      </p:sp>
      <p:sp>
        <p:nvSpPr>
          <p:cNvPr id="9279992" name="Text 26"/>
          <p:cNvSpPr/>
          <p:nvPr/>
        </p:nvSpPr>
        <p:spPr bwMode="auto">
          <a:xfrm>
            <a:off x="6858000" y="1691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>
                <a:solidFill>
                  <a:srgbClr val="94A3B8"/>
                </a:solidFill>
                <a:latin typeface="Arial"/>
                <a:ea typeface="Arial"/>
                <a:cs typeface="Arial"/>
              </a:rPr>
              <a:t>→</a:t>
            </a:r>
            <a:endParaRPr lang="en-US" sz="1600"/>
          </a:p>
        </p:txBody>
      </p:sp>
      <p:sp>
        <p:nvSpPr>
          <p:cNvPr id="716905634" name="Text 27"/>
          <p:cNvSpPr/>
          <p:nvPr/>
        </p:nvSpPr>
        <p:spPr bwMode="auto">
          <a:xfrm>
            <a:off x="7132320" y="960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3B82F6"/>
                </a:solidFill>
                <a:latin typeface="Arial"/>
                <a:ea typeface="Arial"/>
                <a:cs typeface="Arial"/>
              </a:rPr>
              <a:t>SOC WORKFLOW</a:t>
            </a:r>
            <a:endParaRPr lang="en-US" sz="1000"/>
          </a:p>
        </p:txBody>
      </p:sp>
      <p:sp>
        <p:nvSpPr>
          <p:cNvPr id="1424191256" name="Shape 28"/>
          <p:cNvSpPr/>
          <p:nvPr/>
        </p:nvSpPr>
        <p:spPr bwMode="auto">
          <a:xfrm>
            <a:off x="7132320" y="1325880"/>
            <a:ext cx="1920240" cy="457200"/>
          </a:xfrm>
          <a:prstGeom prst="line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386966424" name="Text 29"/>
          <p:cNvSpPr/>
          <p:nvPr/>
        </p:nvSpPr>
        <p:spPr bwMode="auto">
          <a:xfrm>
            <a:off x="7132320" y="1325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E2E8F0"/>
                </a:solidFill>
                <a:latin typeface="Arial"/>
                <a:ea typeface="Arial"/>
                <a:cs typeface="Arial"/>
              </a:rPr>
              <a:t>SIEM (Splunk/Elastic)</a:t>
            </a:r>
            <a:endParaRPr lang="en-US" sz="1000"/>
          </a:p>
        </p:txBody>
      </p:sp>
      <p:sp>
        <p:nvSpPr>
          <p:cNvPr id="1574698736" name="Shape 30"/>
          <p:cNvSpPr/>
          <p:nvPr/>
        </p:nvSpPr>
        <p:spPr bwMode="auto">
          <a:xfrm>
            <a:off x="7132320" y="1874520"/>
            <a:ext cx="1920240" cy="457200"/>
          </a:xfrm>
          <a:prstGeom prst="line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725897759" name="Text 31"/>
          <p:cNvSpPr/>
          <p:nvPr/>
        </p:nvSpPr>
        <p:spPr bwMode="auto">
          <a:xfrm>
            <a:off x="7132320" y="1874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E2E8F0"/>
                </a:solidFill>
                <a:latin typeface="Arial"/>
                <a:ea typeface="Arial"/>
                <a:cs typeface="Arial"/>
              </a:rPr>
              <a:t>Ticketing (Jira)</a:t>
            </a:r>
            <a:endParaRPr lang="en-US" sz="1000"/>
          </a:p>
        </p:txBody>
      </p:sp>
      <p:sp>
        <p:nvSpPr>
          <p:cNvPr id="579517325" name="Shape 32"/>
          <p:cNvSpPr/>
          <p:nvPr/>
        </p:nvSpPr>
        <p:spPr bwMode="auto">
          <a:xfrm>
            <a:off x="7132320" y="2423160"/>
            <a:ext cx="1920240" cy="457200"/>
          </a:xfrm>
          <a:prstGeom prst="line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824548470" name="Text 33"/>
          <p:cNvSpPr/>
          <p:nvPr/>
        </p:nvSpPr>
        <p:spPr bwMode="auto">
          <a:xfrm>
            <a:off x="7132320" y="2423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E2E8F0"/>
                </a:solidFill>
                <a:latin typeface="Arial"/>
                <a:ea typeface="Arial"/>
                <a:cs typeface="Arial"/>
              </a:rPr>
              <a:t>PagerDuty</a:t>
            </a:r>
            <a:endParaRPr lang="en-US" sz="1000"/>
          </a:p>
        </p:txBody>
      </p:sp>
      <p:sp>
        <p:nvSpPr>
          <p:cNvPr id="758930146" name="Text 34"/>
          <p:cNvSpPr/>
          <p:nvPr/>
        </p:nvSpPr>
        <p:spPr bwMode="auto">
          <a:xfrm>
            <a:off x="548640" y="3108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Integration Options</a:t>
            </a:r>
            <a:endParaRPr lang="en-US" sz="1400"/>
          </a:p>
        </p:txBody>
      </p:sp>
      <p:pic>
        <p:nvPicPr>
          <p:cNvPr id="1211751355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3593592"/>
            <a:ext cx="228600" cy="228600"/>
          </a:xfrm>
          <a:prstGeom prst="rect">
            <a:avLst/>
          </a:prstGeom>
        </p:spPr>
      </p:pic>
      <p:sp>
        <p:nvSpPr>
          <p:cNvPr id="235261718" name="Text 35"/>
          <p:cNvSpPr/>
          <p:nvPr/>
        </p:nvSpPr>
        <p:spPr bwMode="auto">
          <a:xfrm>
            <a:off x="868680" y="3520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vmalert Webhooks</a:t>
            </a:r>
            <a:endParaRPr lang="en-US" sz="1200"/>
          </a:p>
        </p:txBody>
      </p:sp>
      <p:sp>
        <p:nvSpPr>
          <p:cNvPr id="787542614" name="Text 36"/>
          <p:cNvSpPr/>
          <p:nvPr/>
        </p:nvSpPr>
        <p:spPr bwMode="auto">
          <a:xfrm>
            <a:off x="86868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Native integration with most SIEMs</a:t>
            </a:r>
            <a:endParaRPr lang="en-US" sz="1000"/>
          </a:p>
        </p:txBody>
      </p:sp>
      <p:pic>
        <p:nvPicPr>
          <p:cNvPr id="377633388" name="Image 1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846320" y="3593592"/>
            <a:ext cx="228600" cy="228600"/>
          </a:xfrm>
          <a:prstGeom prst="rect">
            <a:avLst/>
          </a:prstGeom>
        </p:spPr>
      </p:pic>
      <p:sp>
        <p:nvSpPr>
          <p:cNvPr id="1550115227" name="Text 37"/>
          <p:cNvSpPr/>
          <p:nvPr/>
        </p:nvSpPr>
        <p:spPr bwMode="auto">
          <a:xfrm>
            <a:off x="5166360" y="3520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Grafana OnCall</a:t>
            </a:r>
            <a:endParaRPr lang="en-US" sz="1200"/>
          </a:p>
        </p:txBody>
      </p:sp>
      <p:sp>
        <p:nvSpPr>
          <p:cNvPr id="14000745" name="Text 38"/>
          <p:cNvSpPr/>
          <p:nvPr/>
        </p:nvSpPr>
        <p:spPr bwMode="auto">
          <a:xfrm>
            <a:off x="516636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Built-in incident management</a:t>
            </a:r>
            <a:endParaRPr lang="en-US" sz="1000"/>
          </a:p>
        </p:txBody>
      </p:sp>
      <p:pic>
        <p:nvPicPr>
          <p:cNvPr id="1975674784" name="Image 2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4233672"/>
            <a:ext cx="228600" cy="228600"/>
          </a:xfrm>
          <a:prstGeom prst="rect">
            <a:avLst/>
          </a:prstGeom>
        </p:spPr>
      </p:pic>
      <p:sp>
        <p:nvSpPr>
          <p:cNvPr id="1047454004" name="Text 39"/>
          <p:cNvSpPr/>
          <p:nvPr/>
        </p:nvSpPr>
        <p:spPr bwMode="auto">
          <a:xfrm>
            <a:off x="868680" y="4160519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Loki to SIEM</a:t>
            </a:r>
            <a:endParaRPr lang="en-US" sz="1200"/>
          </a:p>
        </p:txBody>
      </p:sp>
      <p:sp>
        <p:nvSpPr>
          <p:cNvPr id="336469724" name="Text 40"/>
          <p:cNvSpPr/>
          <p:nvPr/>
        </p:nvSpPr>
        <p:spPr bwMode="auto">
          <a:xfrm>
            <a:off x="868680" y="4434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Forward critical logs via syslog</a:t>
            </a:r>
            <a:endParaRPr lang="en-US" sz="1000"/>
          </a:p>
        </p:txBody>
      </p:sp>
      <p:pic>
        <p:nvPicPr>
          <p:cNvPr id="177970485" name="Image 3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846320" y="4233672"/>
            <a:ext cx="228600" cy="228600"/>
          </a:xfrm>
          <a:prstGeom prst="rect">
            <a:avLst/>
          </a:prstGeom>
        </p:spPr>
      </p:pic>
      <p:sp>
        <p:nvSpPr>
          <p:cNvPr id="732105546" name="Text 41"/>
          <p:cNvSpPr/>
          <p:nvPr/>
        </p:nvSpPr>
        <p:spPr bwMode="auto">
          <a:xfrm>
            <a:off x="5166360" y="4160519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OTel Exporters</a:t>
            </a:r>
            <a:endParaRPr lang="en-US" sz="1200"/>
          </a:p>
        </p:txBody>
      </p:sp>
      <p:sp>
        <p:nvSpPr>
          <p:cNvPr id="969266432" name="Text 42"/>
          <p:cNvSpPr/>
          <p:nvPr/>
        </p:nvSpPr>
        <p:spPr bwMode="auto">
          <a:xfrm>
            <a:off x="5166360" y="4434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Send to any OTel-compatible backend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9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8462367" name="Shape 0"/>
          <p:cNvSpPr/>
          <p:nvPr/>
        </p:nvSpPr>
        <p:spPr bwMode="auto">
          <a:xfrm>
            <a:off x="0" y="0"/>
            <a:ext cx="73152" cy="5143500"/>
          </a:xfrm>
          <a:prstGeom prst="lin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825995400" name="Text 1"/>
          <p:cNvSpPr/>
          <p:nvPr/>
        </p:nvSpPr>
        <p:spPr bwMode="auto">
          <a:xfrm>
            <a:off x="548640" y="320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3B82F6"/>
                </a:solidFill>
                <a:latin typeface="Arial"/>
                <a:ea typeface="Arial"/>
                <a:cs typeface="Arial"/>
              </a:rPr>
              <a:t>Deep Dive</a:t>
            </a:r>
            <a:endParaRPr lang="en-US" sz="1100"/>
          </a:p>
        </p:txBody>
      </p:sp>
      <p:sp>
        <p:nvSpPr>
          <p:cNvPr id="1920559218" name="Text 2"/>
          <p:cNvSpPr/>
          <p:nvPr/>
        </p:nvSpPr>
        <p:spPr bwMode="auto"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Building Custom ML Security Exporters</a:t>
            </a:r>
            <a:endParaRPr lang="en-US" sz="2400"/>
          </a:p>
        </p:txBody>
      </p:sp>
      <p:sp>
        <p:nvSpPr>
          <p:cNvPr id="562456127" name="Shape 3"/>
          <p:cNvSpPr/>
          <p:nvPr/>
        </p:nvSpPr>
        <p:spPr bwMode="auto">
          <a:xfrm>
            <a:off x="548640" y="1005840"/>
            <a:ext cx="4754880" cy="2926080"/>
          </a:xfrm>
          <a:prstGeom prst="line">
            <a:avLst/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901904936" name="Shape 4"/>
          <p:cNvSpPr/>
          <p:nvPr/>
        </p:nvSpPr>
        <p:spPr bwMode="auto">
          <a:xfrm>
            <a:off x="548640" y="1005840"/>
            <a:ext cx="4754880" cy="32004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086998649" name="Text 5"/>
          <p:cNvSpPr/>
          <p:nvPr/>
        </p:nvSpPr>
        <p:spPr bwMode="auto">
          <a:xfrm>
            <a:off x="685800" y="105156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ml_exporter.py</a:t>
            </a:r>
            <a:endParaRPr lang="en-US" sz="1000"/>
          </a:p>
        </p:txBody>
      </p:sp>
      <p:sp>
        <p:nvSpPr>
          <p:cNvPr id="1176722732" name="Text 6"/>
          <p:cNvSpPr/>
          <p:nvPr/>
        </p:nvSpPr>
        <p:spPr bwMode="auto">
          <a:xfrm>
            <a:off x="685800" y="1371600"/>
            <a:ext cx="44805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from prometheus_client import Gauge, Counter</a:t>
            </a:r>
            <a:endParaRPr lang="en-US" sz="1000"/>
          </a:p>
          <a:p>
            <a:pPr marL="0" indent="0">
              <a:buNone/>
              <a:defRPr/>
            </a:pP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# Define ML security metrics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reconstruction_error = Gauge(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'ml_input_reconstruction_error',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'Autoencoder reconstruction error',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['model', 'input_type'])</a:t>
            </a:r>
            <a:endParaRPr lang="en-US" sz="1000"/>
          </a:p>
          <a:p>
            <a:pPr marL="0" indent="0">
              <a:buNone/>
              <a:defRPr/>
            </a:pP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# In your inference code: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def predict_with_monitoring(input):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error = autoencoder.compute_error(input)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reconstruction_error.labels(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    model='fraud-v2',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    input_type='transaction'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).set(error)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# ... rest of inference</a:t>
            </a:r>
            <a:endParaRPr lang="en-US" sz="1000"/>
          </a:p>
        </p:txBody>
      </p:sp>
      <p:sp>
        <p:nvSpPr>
          <p:cNvPr id="919468325" name="Text 7"/>
          <p:cNvSpPr/>
          <p:nvPr/>
        </p:nvSpPr>
        <p:spPr bwMode="auto">
          <a:xfrm>
            <a:off x="5577840" y="1005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Essential Metrics</a:t>
            </a:r>
            <a:endParaRPr lang="en-US" sz="1300"/>
          </a:p>
        </p:txBody>
      </p:sp>
      <p:sp>
        <p:nvSpPr>
          <p:cNvPr id="1450408067" name="Text 8"/>
          <p:cNvSpPr/>
          <p:nvPr/>
        </p:nvSpPr>
        <p:spPr bwMode="auto">
          <a:xfrm>
            <a:off x="5577840" y="14173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3B82F6"/>
                </a:solidFill>
                <a:latin typeface="Arial"/>
                <a:ea typeface="Arial"/>
                <a:cs typeface="Arial"/>
              </a:rPr>
              <a:t>Anomaly Detection</a:t>
            </a:r>
            <a:endParaRPr lang="en-US" sz="1100"/>
          </a:p>
        </p:txBody>
      </p:sp>
      <p:sp>
        <p:nvSpPr>
          <p:cNvPr id="478928755" name="Text 9"/>
          <p:cNvSpPr/>
          <p:nvPr/>
        </p:nvSpPr>
        <p:spPr bwMode="auto">
          <a:xfrm>
            <a:off x="5577840" y="1645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reconstruction_error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embedding_distance</a:t>
            </a:r>
            <a:endParaRPr lang="en-US" sz="900"/>
          </a:p>
        </p:txBody>
      </p:sp>
      <p:sp>
        <p:nvSpPr>
          <p:cNvPr id="676211871" name="Text 10"/>
          <p:cNvSpPr/>
          <p:nvPr/>
        </p:nvSpPr>
        <p:spPr bwMode="auto">
          <a:xfrm>
            <a:off x="5577840" y="20574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3B82F6"/>
                </a:solidFill>
                <a:latin typeface="Arial"/>
                <a:ea typeface="Arial"/>
                <a:cs typeface="Arial"/>
              </a:rPr>
              <a:t>Distribution Drift</a:t>
            </a:r>
            <a:endParaRPr lang="en-US" sz="1100"/>
          </a:p>
        </p:txBody>
      </p:sp>
      <p:sp>
        <p:nvSpPr>
          <p:cNvPr id="462970488" name="Text 11"/>
          <p:cNvSpPr/>
          <p:nvPr/>
        </p:nvSpPr>
        <p:spPr bwMode="auto">
          <a:xfrm>
            <a:off x="557784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prediction_distribution_psi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feature_drift_score</a:t>
            </a:r>
            <a:endParaRPr lang="en-US" sz="900"/>
          </a:p>
        </p:txBody>
      </p:sp>
      <p:sp>
        <p:nvSpPr>
          <p:cNvPr id="864195295" name="Text 12"/>
          <p:cNvSpPr/>
          <p:nvPr/>
        </p:nvSpPr>
        <p:spPr bwMode="auto">
          <a:xfrm>
            <a:off x="5577840" y="26974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3B82F6"/>
                </a:solidFill>
                <a:latin typeface="Arial"/>
                <a:ea typeface="Arial"/>
                <a:cs typeface="Arial"/>
              </a:rPr>
              <a:t>API Behavior</a:t>
            </a:r>
            <a:endParaRPr lang="en-US" sz="1100"/>
          </a:p>
        </p:txBody>
      </p:sp>
      <p:sp>
        <p:nvSpPr>
          <p:cNvPr id="833148585" name="Text 13"/>
          <p:cNvSpPr/>
          <p:nvPr/>
        </p:nvSpPr>
        <p:spPr bwMode="auto">
          <a:xfrm>
            <a:off x="5577840" y="2926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queries_per_user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query_entropy_score</a:t>
            </a:r>
            <a:endParaRPr lang="en-US" sz="900"/>
          </a:p>
        </p:txBody>
      </p:sp>
      <p:sp>
        <p:nvSpPr>
          <p:cNvPr id="1184984783" name="Text 14"/>
          <p:cNvSpPr/>
          <p:nvPr/>
        </p:nvSpPr>
        <p:spPr bwMode="auto">
          <a:xfrm>
            <a:off x="5577840" y="33375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3B82F6"/>
                </a:solidFill>
                <a:latin typeface="Arial"/>
                <a:ea typeface="Arial"/>
                <a:cs typeface="Arial"/>
              </a:rPr>
              <a:t>LLM Specific</a:t>
            </a:r>
            <a:endParaRPr lang="en-US" sz="1100"/>
          </a:p>
        </p:txBody>
      </p:sp>
      <p:sp>
        <p:nvSpPr>
          <p:cNvPr id="380174820" name="Text 15"/>
          <p:cNvSpPr/>
          <p:nvPr/>
        </p:nvSpPr>
        <p:spPr bwMode="auto">
          <a:xfrm>
            <a:off x="5577840" y="3566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prompt_injection_score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policy_violations</a:t>
            </a:r>
            <a:endParaRPr lang="en-US" sz="900"/>
          </a:p>
        </p:txBody>
      </p:sp>
      <p:sp>
        <p:nvSpPr>
          <p:cNvPr id="881410738" name="Shape 16"/>
          <p:cNvSpPr/>
          <p:nvPr/>
        </p:nvSpPr>
        <p:spPr bwMode="auto">
          <a:xfrm>
            <a:off x="548640" y="4114800"/>
            <a:ext cx="8229600" cy="73152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322873523" name="Text 17"/>
          <p:cNvSpPr/>
          <p:nvPr/>
        </p:nvSpPr>
        <p:spPr bwMode="auto">
          <a:xfrm>
            <a:off x="685800" y="4206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Best Practices</a:t>
            </a:r>
            <a:endParaRPr lang="en-US" sz="1100"/>
          </a:p>
        </p:txBody>
      </p:sp>
      <p:sp>
        <p:nvSpPr>
          <p:cNvPr id="1974797538" name="Text 18"/>
          <p:cNvSpPr/>
          <p:nvPr/>
        </p:nvSpPr>
        <p:spPr bwMode="auto">
          <a:xfrm>
            <a:off x="685800" y="44805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Use Histograms for distributions  ·  Avoid high cardinality labels  ·  Async export to not block inference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0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836621" name="Shape 0"/>
          <p:cNvSpPr/>
          <p:nvPr/>
        </p:nvSpPr>
        <p:spPr bwMode="auto">
          <a:xfrm>
            <a:off x="0" y="0"/>
            <a:ext cx="73152" cy="5143500"/>
          </a:xfrm>
          <a:prstGeom prst="lin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713297837" name="Text 1"/>
          <p:cNvSpPr/>
          <p:nvPr/>
        </p:nvSpPr>
        <p:spPr bwMode="auto">
          <a:xfrm>
            <a:off x="548640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06B6D4"/>
                </a:solidFill>
                <a:latin typeface="Arial Black"/>
                <a:ea typeface="Arial Black"/>
                <a:cs typeface="Arial Black"/>
              </a:rPr>
              <a:t>06</a:t>
            </a:r>
            <a:endParaRPr lang="en-US" sz="2400"/>
          </a:p>
        </p:txBody>
      </p:sp>
      <p:sp>
        <p:nvSpPr>
          <p:cNvPr id="1037650746" name="Text 2"/>
          <p:cNvSpPr/>
          <p:nvPr/>
        </p:nvSpPr>
        <p:spPr bwMode="auto">
          <a:xfrm>
            <a:off x="118872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 Demo: Attack Detection in Action</a:t>
            </a:r>
            <a:endParaRPr lang="en-US" sz="2400"/>
          </a:p>
        </p:txBody>
      </p:sp>
      <p:sp>
        <p:nvSpPr>
          <p:cNvPr id="1170902266" name="Text 3"/>
          <p:cNvSpPr/>
          <p:nvPr/>
        </p:nvSpPr>
        <p:spPr bwMode="auto">
          <a:xfrm>
            <a:off x="54864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94A3B8"/>
                </a:solidFill>
                <a:latin typeface="Arial"/>
                <a:ea typeface="Arial"/>
                <a:cs typeface="Arial"/>
              </a:rPr>
              <a:t>Simulated attacks against a fraud detection model</a:t>
            </a:r>
            <a:endParaRPr lang="en-US" sz="1400"/>
          </a:p>
        </p:txBody>
      </p:sp>
      <p:sp>
        <p:nvSpPr>
          <p:cNvPr id="546249266" name="Shape 4"/>
          <p:cNvSpPr/>
          <p:nvPr/>
        </p:nvSpPr>
        <p:spPr bwMode="auto">
          <a:xfrm>
            <a:off x="548640" y="1280160"/>
            <a:ext cx="2697480" cy="3017519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31493313" name="Shape 5"/>
          <p:cNvSpPr/>
          <p:nvPr/>
        </p:nvSpPr>
        <p:spPr bwMode="auto">
          <a:xfrm>
            <a:off x="548640" y="1280160"/>
            <a:ext cx="2697480" cy="54864"/>
          </a:xfrm>
          <a:prstGeom prst="line">
            <a:avLst/>
          </a:prstGeom>
          <a:solidFill>
            <a:srgbClr val="EF4444"/>
          </a:solidFill>
          <a:ln/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178036468" name="Text 6"/>
          <p:cNvSpPr/>
          <p:nvPr/>
        </p:nvSpPr>
        <p:spPr bwMode="auto">
          <a:xfrm>
            <a:off x="685800" y="14630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Adversarial Input</a:t>
            </a:r>
            <a:endParaRPr lang="en-US" sz="1400"/>
          </a:p>
        </p:txBody>
      </p:sp>
      <p:sp>
        <p:nvSpPr>
          <p:cNvPr id="1370432396" name="Text 7"/>
          <p:cNvSpPr/>
          <p:nvPr/>
        </p:nvSpPr>
        <p:spPr bwMode="auto">
          <a:xfrm>
            <a:off x="685800" y="17830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FGSM attack on classifier</a:t>
            </a:r>
            <a:endParaRPr lang="en-US" sz="1100"/>
          </a:p>
        </p:txBody>
      </p:sp>
      <p:sp>
        <p:nvSpPr>
          <p:cNvPr id="663579105" name="Text 8"/>
          <p:cNvSpPr/>
          <p:nvPr/>
        </p:nvSpPr>
        <p:spPr bwMode="auto">
          <a:xfrm>
            <a:off x="68580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EF4444"/>
                </a:solidFill>
                <a:latin typeface="Arial"/>
                <a:ea typeface="Arial"/>
                <a:cs typeface="Arial"/>
              </a:rPr>
              <a:t>1.</a:t>
            </a:r>
            <a:endParaRPr lang="en-US" sz="1200"/>
          </a:p>
        </p:txBody>
      </p:sp>
      <p:sp>
        <p:nvSpPr>
          <p:cNvPr id="476617564" name="Text 9"/>
          <p:cNvSpPr/>
          <p:nvPr/>
        </p:nvSpPr>
        <p:spPr bwMode="auto">
          <a:xfrm>
            <a:off x="960120" y="22402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E2E8F0"/>
                </a:solidFill>
                <a:latin typeface="Arial"/>
                <a:ea typeface="Arial"/>
                <a:cs typeface="Arial"/>
              </a:rPr>
              <a:t>Reconstruction error spike</a:t>
            </a:r>
            <a:endParaRPr lang="en-US" sz="1100"/>
          </a:p>
        </p:txBody>
      </p:sp>
      <p:sp>
        <p:nvSpPr>
          <p:cNvPr id="1939147615" name="Text 10"/>
          <p:cNvSpPr/>
          <p:nvPr/>
        </p:nvSpPr>
        <p:spPr bwMode="auto">
          <a:xfrm>
            <a:off x="685800" y="2880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EF4444"/>
                </a:solidFill>
                <a:latin typeface="Arial"/>
                <a:ea typeface="Arial"/>
                <a:cs typeface="Arial"/>
              </a:rPr>
              <a:t>2.</a:t>
            </a:r>
            <a:endParaRPr lang="en-US" sz="1200"/>
          </a:p>
        </p:txBody>
      </p:sp>
      <p:sp>
        <p:nvSpPr>
          <p:cNvPr id="823986559" name="Text 11"/>
          <p:cNvSpPr/>
          <p:nvPr/>
        </p:nvSpPr>
        <p:spPr bwMode="auto">
          <a:xfrm>
            <a:off x="960120" y="28803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E2E8F0"/>
                </a:solidFill>
                <a:latin typeface="Arial"/>
                <a:ea typeface="Arial"/>
                <a:cs typeface="Arial"/>
              </a:rPr>
              <a:t>Alert fires in Grafana</a:t>
            </a:r>
            <a:endParaRPr lang="en-US" sz="1100"/>
          </a:p>
        </p:txBody>
      </p:sp>
      <p:sp>
        <p:nvSpPr>
          <p:cNvPr id="54197584" name="Text 12"/>
          <p:cNvSpPr/>
          <p:nvPr/>
        </p:nvSpPr>
        <p:spPr bwMode="auto">
          <a:xfrm>
            <a:off x="685800" y="3520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EF4444"/>
                </a:solidFill>
                <a:latin typeface="Arial"/>
                <a:ea typeface="Arial"/>
                <a:cs typeface="Arial"/>
              </a:rPr>
              <a:t>3.</a:t>
            </a:r>
            <a:endParaRPr lang="en-US" sz="1200"/>
          </a:p>
        </p:txBody>
      </p:sp>
      <p:sp>
        <p:nvSpPr>
          <p:cNvPr id="1566055060" name="Text 13"/>
          <p:cNvSpPr/>
          <p:nvPr/>
        </p:nvSpPr>
        <p:spPr bwMode="auto">
          <a:xfrm>
            <a:off x="960120" y="35204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E2E8F0"/>
                </a:solidFill>
                <a:latin typeface="Arial"/>
                <a:ea typeface="Arial"/>
                <a:cs typeface="Arial"/>
              </a:rPr>
              <a:t>Log entry with trace ID</a:t>
            </a:r>
            <a:endParaRPr lang="en-US" sz="1100"/>
          </a:p>
        </p:txBody>
      </p:sp>
      <p:sp>
        <p:nvSpPr>
          <p:cNvPr id="1572102274" name="Shape 14"/>
          <p:cNvSpPr/>
          <p:nvPr/>
        </p:nvSpPr>
        <p:spPr bwMode="auto">
          <a:xfrm>
            <a:off x="3429000" y="1280160"/>
            <a:ext cx="2697480" cy="3017519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856124663" name="Shape 15"/>
          <p:cNvSpPr/>
          <p:nvPr/>
        </p:nvSpPr>
        <p:spPr bwMode="auto">
          <a:xfrm>
            <a:off x="3429000" y="1280160"/>
            <a:ext cx="2697480" cy="54864"/>
          </a:xfrm>
          <a:prstGeom prst="line">
            <a:avLst/>
          </a:prstGeom>
          <a:solidFill>
            <a:srgbClr val="F59E0B"/>
          </a:solidFill>
          <a:ln/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5605771" name="Text 16"/>
          <p:cNvSpPr/>
          <p:nvPr/>
        </p:nvSpPr>
        <p:spPr bwMode="auto">
          <a:xfrm>
            <a:off x="3566160" y="14630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 Extraction</a:t>
            </a:r>
            <a:endParaRPr lang="en-US" sz="1400"/>
          </a:p>
        </p:txBody>
      </p:sp>
      <p:sp>
        <p:nvSpPr>
          <p:cNvPr id="1701431863" name="Text 17"/>
          <p:cNvSpPr/>
          <p:nvPr/>
        </p:nvSpPr>
        <p:spPr bwMode="auto">
          <a:xfrm>
            <a:off x="3566160" y="17830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Systematic API querying</a:t>
            </a:r>
            <a:endParaRPr lang="en-US" sz="1100"/>
          </a:p>
        </p:txBody>
      </p:sp>
      <p:sp>
        <p:nvSpPr>
          <p:cNvPr id="666903790" name="Text 18"/>
          <p:cNvSpPr/>
          <p:nvPr/>
        </p:nvSpPr>
        <p:spPr bwMode="auto">
          <a:xfrm>
            <a:off x="356616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1.</a:t>
            </a:r>
            <a:endParaRPr lang="en-US" sz="1200"/>
          </a:p>
        </p:txBody>
      </p:sp>
      <p:sp>
        <p:nvSpPr>
          <p:cNvPr id="409615299" name="Text 19"/>
          <p:cNvSpPr/>
          <p:nvPr/>
        </p:nvSpPr>
        <p:spPr bwMode="auto">
          <a:xfrm>
            <a:off x="3840480" y="22402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E2E8F0"/>
                </a:solidFill>
                <a:latin typeface="Arial"/>
                <a:ea typeface="Arial"/>
                <a:cs typeface="Arial"/>
              </a:rPr>
              <a:t>Query rate spike detected</a:t>
            </a:r>
            <a:endParaRPr lang="en-US" sz="1100"/>
          </a:p>
        </p:txBody>
      </p:sp>
      <p:sp>
        <p:nvSpPr>
          <p:cNvPr id="301151431" name="Text 20"/>
          <p:cNvSpPr/>
          <p:nvPr/>
        </p:nvSpPr>
        <p:spPr bwMode="auto">
          <a:xfrm>
            <a:off x="3566160" y="2880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2.</a:t>
            </a:r>
            <a:endParaRPr lang="en-US" sz="1200"/>
          </a:p>
        </p:txBody>
      </p:sp>
      <p:sp>
        <p:nvSpPr>
          <p:cNvPr id="340510127" name="Text 21"/>
          <p:cNvSpPr/>
          <p:nvPr/>
        </p:nvSpPr>
        <p:spPr bwMode="auto">
          <a:xfrm>
            <a:off x="3840480" y="28803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E2E8F0"/>
                </a:solidFill>
                <a:latin typeface="Arial"/>
                <a:ea typeface="Arial"/>
                <a:cs typeface="Arial"/>
              </a:rPr>
              <a:t>Low entropy pattern flagged</a:t>
            </a:r>
            <a:endParaRPr lang="en-US" sz="1100"/>
          </a:p>
        </p:txBody>
      </p:sp>
      <p:sp>
        <p:nvSpPr>
          <p:cNvPr id="1325854446" name="Text 22"/>
          <p:cNvSpPr/>
          <p:nvPr/>
        </p:nvSpPr>
        <p:spPr bwMode="auto">
          <a:xfrm>
            <a:off x="3566160" y="3520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3.</a:t>
            </a:r>
            <a:endParaRPr lang="en-US" sz="1200"/>
          </a:p>
        </p:txBody>
      </p:sp>
      <p:sp>
        <p:nvSpPr>
          <p:cNvPr id="1024883610" name="Text 23"/>
          <p:cNvSpPr/>
          <p:nvPr/>
        </p:nvSpPr>
        <p:spPr bwMode="auto">
          <a:xfrm>
            <a:off x="3840480" y="35204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E2E8F0"/>
                </a:solidFill>
                <a:latin typeface="Arial"/>
                <a:ea typeface="Arial"/>
                <a:cs typeface="Arial"/>
              </a:rPr>
              <a:t>User ID logged</a:t>
            </a:r>
            <a:endParaRPr lang="en-US" sz="1100"/>
          </a:p>
        </p:txBody>
      </p:sp>
      <p:sp>
        <p:nvSpPr>
          <p:cNvPr id="1449902029" name="Shape 24"/>
          <p:cNvSpPr/>
          <p:nvPr/>
        </p:nvSpPr>
        <p:spPr bwMode="auto">
          <a:xfrm>
            <a:off x="6309360" y="1280160"/>
            <a:ext cx="2697480" cy="3017519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89660470" name="Shape 25"/>
          <p:cNvSpPr/>
          <p:nvPr/>
        </p:nvSpPr>
        <p:spPr bwMode="auto">
          <a:xfrm>
            <a:off x="6309360" y="1280160"/>
            <a:ext cx="2697480" cy="54864"/>
          </a:xfrm>
          <a:prstGeom prst="line">
            <a:avLst/>
          </a:prstGeom>
          <a:solidFill>
            <a:srgbClr val="8B5CF6"/>
          </a:solidFill>
          <a:ln/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586624471" name="Text 26"/>
          <p:cNvSpPr/>
          <p:nvPr/>
        </p:nvSpPr>
        <p:spPr bwMode="auto">
          <a:xfrm>
            <a:off x="6446520" y="14630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Prompt Injection</a:t>
            </a:r>
            <a:endParaRPr lang="en-US" sz="1400"/>
          </a:p>
        </p:txBody>
      </p:sp>
      <p:sp>
        <p:nvSpPr>
          <p:cNvPr id="672547656" name="Text 27"/>
          <p:cNvSpPr/>
          <p:nvPr/>
        </p:nvSpPr>
        <p:spPr bwMode="auto">
          <a:xfrm>
            <a:off x="6446520" y="17830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Jailbreak attempt on LLM</a:t>
            </a:r>
            <a:endParaRPr lang="en-US" sz="1100"/>
          </a:p>
        </p:txBody>
      </p:sp>
      <p:sp>
        <p:nvSpPr>
          <p:cNvPr id="302275673" name="Text 28"/>
          <p:cNvSpPr/>
          <p:nvPr/>
        </p:nvSpPr>
        <p:spPr bwMode="auto">
          <a:xfrm>
            <a:off x="644652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1.</a:t>
            </a:r>
            <a:endParaRPr lang="en-US" sz="1200"/>
          </a:p>
        </p:txBody>
      </p:sp>
      <p:sp>
        <p:nvSpPr>
          <p:cNvPr id="1270755038" name="Text 29"/>
          <p:cNvSpPr/>
          <p:nvPr/>
        </p:nvSpPr>
        <p:spPr bwMode="auto">
          <a:xfrm>
            <a:off x="6720840" y="22402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E2E8F0"/>
                </a:solidFill>
                <a:latin typeface="Arial"/>
                <a:ea typeface="Arial"/>
                <a:cs typeface="Arial"/>
              </a:rPr>
              <a:t>Injection classifier triggers</a:t>
            </a:r>
            <a:endParaRPr lang="en-US" sz="1100"/>
          </a:p>
        </p:txBody>
      </p:sp>
      <p:sp>
        <p:nvSpPr>
          <p:cNvPr id="1205948181" name="Text 30"/>
          <p:cNvSpPr/>
          <p:nvPr/>
        </p:nvSpPr>
        <p:spPr bwMode="auto">
          <a:xfrm>
            <a:off x="6446520" y="2880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2.</a:t>
            </a:r>
            <a:endParaRPr lang="en-US" sz="1200"/>
          </a:p>
        </p:txBody>
      </p:sp>
      <p:sp>
        <p:nvSpPr>
          <p:cNvPr id="132593699" name="Text 31"/>
          <p:cNvSpPr/>
          <p:nvPr/>
        </p:nvSpPr>
        <p:spPr bwMode="auto">
          <a:xfrm>
            <a:off x="6720840" y="28803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E2E8F0"/>
                </a:solidFill>
                <a:latin typeface="Arial"/>
                <a:ea typeface="Arial"/>
                <a:cs typeface="Arial"/>
              </a:rPr>
              <a:t>Request blocked</a:t>
            </a:r>
            <a:endParaRPr lang="en-US" sz="1100"/>
          </a:p>
        </p:txBody>
      </p:sp>
      <p:sp>
        <p:nvSpPr>
          <p:cNvPr id="701590200" name="Text 32"/>
          <p:cNvSpPr/>
          <p:nvPr/>
        </p:nvSpPr>
        <p:spPr bwMode="auto">
          <a:xfrm>
            <a:off x="6446520" y="3520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3.</a:t>
            </a:r>
            <a:endParaRPr lang="en-US" sz="1200"/>
          </a:p>
        </p:txBody>
      </p:sp>
      <p:sp>
        <p:nvSpPr>
          <p:cNvPr id="1651336615" name="Text 33"/>
          <p:cNvSpPr/>
          <p:nvPr/>
        </p:nvSpPr>
        <p:spPr bwMode="auto">
          <a:xfrm>
            <a:off x="6720840" y="35204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E2E8F0"/>
                </a:solidFill>
                <a:latin typeface="Arial"/>
                <a:ea typeface="Arial"/>
                <a:cs typeface="Arial"/>
              </a:rPr>
              <a:t>Full prompt logged</a:t>
            </a:r>
            <a:endParaRPr lang="en-US" sz="1100"/>
          </a:p>
        </p:txBody>
      </p:sp>
      <p:sp>
        <p:nvSpPr>
          <p:cNvPr id="1227390427" name="Text 34"/>
          <p:cNvSpPr/>
          <p:nvPr/>
        </p:nvSpPr>
        <p:spPr bwMode="auto">
          <a:xfrm>
            <a:off x="54864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Stack: VictoriaMetrics + Loki + Grafana   ·   github.com/</a:t>
            </a: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erythix</a:t>
            </a: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/</a:t>
            </a: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iattack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1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368826" name="Shape 0"/>
          <p:cNvSpPr/>
          <p:nvPr/>
        </p:nvSpPr>
        <p:spPr bwMode="auto">
          <a:xfrm>
            <a:off x="0" y="0"/>
            <a:ext cx="73152" cy="5143500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370654545" name="Text 1"/>
          <p:cNvSpPr/>
          <p:nvPr/>
        </p:nvSpPr>
        <p:spPr bwMode="auto">
          <a:xfrm>
            <a:off x="54864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You're Taking Home</a:t>
            </a:r>
            <a:endParaRPr lang="en-US" sz="2800"/>
          </a:p>
        </p:txBody>
      </p:sp>
      <p:sp>
        <p:nvSpPr>
          <p:cNvPr id="944099084" name="Shape 2"/>
          <p:cNvSpPr/>
          <p:nvPr/>
        </p:nvSpPr>
        <p:spPr bwMode="auto">
          <a:xfrm>
            <a:off x="548640" y="1005840"/>
            <a:ext cx="4023360" cy="109728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20070990" name="Shape 3"/>
          <p:cNvSpPr/>
          <p:nvPr/>
        </p:nvSpPr>
        <p:spPr bwMode="auto">
          <a:xfrm>
            <a:off x="548640" y="1005840"/>
            <a:ext cx="54864" cy="1097280"/>
          </a:xfrm>
          <a:prstGeom prst="line">
            <a:avLst/>
          </a:prstGeom>
          <a:solidFill>
            <a:srgbClr val="10B981"/>
          </a:solidFill>
          <a:ln/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860219052" name="Text 4"/>
          <p:cNvSpPr/>
          <p:nvPr/>
        </p:nvSpPr>
        <p:spPr bwMode="auto">
          <a:xfrm>
            <a:off x="73152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Threat Model Framework</a:t>
            </a:r>
            <a:endParaRPr lang="en-US" sz="1400"/>
          </a:p>
        </p:txBody>
      </p:sp>
      <p:sp>
        <p:nvSpPr>
          <p:cNvPr id="609493190" name="Text 5"/>
          <p:cNvSpPr/>
          <p:nvPr/>
        </p:nvSpPr>
        <p:spPr bwMode="auto">
          <a:xfrm>
            <a:off x="731520" y="1508759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PDF template with asset identification, adversary profiling, attack vectors checklist</a:t>
            </a:r>
            <a:endParaRPr lang="en-US" sz="1100"/>
          </a:p>
        </p:txBody>
      </p:sp>
      <p:sp>
        <p:nvSpPr>
          <p:cNvPr id="2026766866" name="Shape 6"/>
          <p:cNvSpPr/>
          <p:nvPr/>
        </p:nvSpPr>
        <p:spPr bwMode="auto">
          <a:xfrm>
            <a:off x="4846320" y="1005840"/>
            <a:ext cx="4023360" cy="109728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55172477" name="Shape 7"/>
          <p:cNvSpPr/>
          <p:nvPr/>
        </p:nvSpPr>
        <p:spPr bwMode="auto">
          <a:xfrm>
            <a:off x="4846320" y="1005840"/>
            <a:ext cx="54864" cy="1097280"/>
          </a:xfrm>
          <a:prstGeom prst="line">
            <a:avLst/>
          </a:prstGeom>
          <a:solidFill>
            <a:srgbClr val="10B981"/>
          </a:solidFill>
          <a:ln/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42206741" name="Text 8"/>
          <p:cNvSpPr/>
          <p:nvPr/>
        </p:nvSpPr>
        <p:spPr bwMode="auto">
          <a:xfrm>
            <a:off x="502920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Prometheus Alerting</a:t>
            </a:r>
            <a:endParaRPr lang="en-US" sz="1400"/>
          </a:p>
        </p:txBody>
      </p:sp>
      <p:sp>
        <p:nvSpPr>
          <p:cNvPr id="2013941110" name="Text 9"/>
          <p:cNvSpPr/>
          <p:nvPr/>
        </p:nvSpPr>
        <p:spPr bwMode="auto">
          <a:xfrm>
            <a:off x="5029200" y="1508759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YAML files for adversarial, drift, extraction, and LLM security alerts</a:t>
            </a:r>
            <a:endParaRPr lang="en-US" sz="1100"/>
          </a:p>
        </p:txBody>
      </p:sp>
      <p:sp>
        <p:nvSpPr>
          <p:cNvPr id="107692557" name="Shape 10"/>
          <p:cNvSpPr/>
          <p:nvPr/>
        </p:nvSpPr>
        <p:spPr bwMode="auto">
          <a:xfrm>
            <a:off x="548640" y="2286000"/>
            <a:ext cx="4023360" cy="109728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710373626" name="Shape 11"/>
          <p:cNvSpPr/>
          <p:nvPr/>
        </p:nvSpPr>
        <p:spPr bwMode="auto">
          <a:xfrm>
            <a:off x="548640" y="2286000"/>
            <a:ext cx="54864" cy="1097280"/>
          </a:xfrm>
          <a:prstGeom prst="line">
            <a:avLst/>
          </a:prstGeom>
          <a:solidFill>
            <a:srgbClr val="10B981"/>
          </a:solidFill>
          <a:ln/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05302491" name="Text 12"/>
          <p:cNvSpPr/>
          <p:nvPr/>
        </p:nvSpPr>
        <p:spPr bwMode="auto">
          <a:xfrm>
            <a:off x="73152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Log Analysis Queries</a:t>
            </a:r>
            <a:endParaRPr lang="en-US" sz="1400"/>
          </a:p>
        </p:txBody>
      </p:sp>
      <p:sp>
        <p:nvSpPr>
          <p:cNvPr id="320614895" name="Text 13"/>
          <p:cNvSpPr/>
          <p:nvPr/>
        </p:nvSpPr>
        <p:spPr bwMode="auto">
          <a:xfrm>
            <a:off x="731520" y="2788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LogQL library for investigation, user behavior, attack correlation</a:t>
            </a:r>
            <a:endParaRPr lang="en-US" sz="1100"/>
          </a:p>
        </p:txBody>
      </p:sp>
      <p:sp>
        <p:nvSpPr>
          <p:cNvPr id="742563362" name="Shape 14"/>
          <p:cNvSpPr/>
          <p:nvPr/>
        </p:nvSpPr>
        <p:spPr bwMode="auto">
          <a:xfrm>
            <a:off x="4846320" y="2286000"/>
            <a:ext cx="4023360" cy="1097280"/>
          </a:xfrm>
          <a:prstGeom prst="lin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62418295" name="Shape 15"/>
          <p:cNvSpPr/>
          <p:nvPr/>
        </p:nvSpPr>
        <p:spPr bwMode="auto">
          <a:xfrm>
            <a:off x="4846320" y="2286000"/>
            <a:ext cx="54864" cy="1097280"/>
          </a:xfrm>
          <a:prstGeom prst="line">
            <a:avLst/>
          </a:prstGeom>
          <a:solidFill>
            <a:srgbClr val="10B981"/>
          </a:solidFill>
          <a:ln/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82237153" name="Text 16"/>
          <p:cNvSpPr/>
          <p:nvPr/>
        </p:nvSpPr>
        <p:spPr bwMode="auto">
          <a:xfrm>
            <a:off x="502920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SOC Integration</a:t>
            </a:r>
            <a:endParaRPr lang="en-US" sz="1400"/>
          </a:p>
        </p:txBody>
      </p:sp>
      <p:sp>
        <p:nvSpPr>
          <p:cNvPr id="1000185048" name="Text 17"/>
          <p:cNvSpPr/>
          <p:nvPr/>
        </p:nvSpPr>
        <p:spPr bwMode="auto">
          <a:xfrm>
            <a:off x="5029200" y="2788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Architecture guide, Alertmanager configs, Grafana dashboard JSONs</a:t>
            </a:r>
            <a:endParaRPr lang="en-US" sz="1100"/>
          </a:p>
        </p:txBody>
      </p:sp>
      <p:sp>
        <p:nvSpPr>
          <p:cNvPr id="597371663" name="Shape 18"/>
          <p:cNvSpPr/>
          <p:nvPr/>
        </p:nvSpPr>
        <p:spPr bwMode="auto">
          <a:xfrm>
            <a:off x="548640" y="3657600"/>
            <a:ext cx="8229600" cy="822960"/>
          </a:xfrm>
          <a:prstGeom prst="line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pic>
        <p:nvPicPr>
          <p:cNvPr id="395364325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77240" y="3840480"/>
            <a:ext cx="457200" cy="457200"/>
          </a:xfrm>
          <a:prstGeom prst="rect">
            <a:avLst/>
          </a:prstGeom>
        </p:spPr>
      </p:pic>
      <p:sp>
        <p:nvSpPr>
          <p:cNvPr id="1280413713" name="Text 19"/>
          <p:cNvSpPr/>
          <p:nvPr/>
        </p:nvSpPr>
        <p:spPr bwMode="auto">
          <a:xfrm>
            <a:off x="1371600" y="3886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github.com/erythix4/</a:t>
            </a:r>
            <a:r>
              <a:rPr lang="en-US"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iattack</a:t>
            </a:r>
            <a:endParaRPr lang="en-US" sz="1600"/>
          </a:p>
        </p:txBody>
      </p:sp>
      <p:sp>
        <p:nvSpPr>
          <p:cNvPr id="609969768" name="Text 20"/>
          <p:cNvSpPr/>
          <p:nvPr/>
        </p:nvSpPr>
        <p:spPr bwMode="auto">
          <a:xfrm>
            <a:off x="1371600" y="42062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All resources available  ·  Apache 2.0  ·  PRs welcome!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2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1948996" name="Shape 0"/>
          <p:cNvSpPr/>
          <p:nvPr/>
        </p:nvSpPr>
        <p:spPr bwMode="auto">
          <a:xfrm>
            <a:off x="0" y="0"/>
            <a:ext cx="73152" cy="5143500"/>
          </a:xfrm>
          <a:prstGeom prst="lin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329055775" name="Text 1"/>
          <p:cNvSpPr/>
          <p:nvPr/>
        </p:nvSpPr>
        <p:spPr bwMode="auto">
          <a:xfrm>
            <a:off x="54864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Limitations &amp; Considerations</a:t>
            </a:r>
            <a:endParaRPr lang="en-US" sz="2800"/>
          </a:p>
        </p:txBody>
      </p:sp>
      <p:sp>
        <p:nvSpPr>
          <p:cNvPr id="377454450" name="Text 2"/>
          <p:cNvSpPr/>
          <p:nvPr/>
        </p:nvSpPr>
        <p:spPr bwMode="auto"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94A3B8"/>
                </a:solidFill>
                <a:latin typeface="Arial"/>
                <a:ea typeface="Arial"/>
                <a:cs typeface="Arial"/>
              </a:rPr>
              <a:t>Honest about what this approach doesn't solve</a:t>
            </a:r>
            <a:endParaRPr lang="en-US" sz="1400"/>
          </a:p>
        </p:txBody>
      </p:sp>
      <p:pic>
        <p:nvPicPr>
          <p:cNvPr id="568989833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1463040"/>
            <a:ext cx="365760" cy="365760"/>
          </a:xfrm>
          <a:prstGeom prst="rect">
            <a:avLst/>
          </a:prstGeom>
        </p:spPr>
      </p:pic>
      <p:sp>
        <p:nvSpPr>
          <p:cNvPr id="1430675214" name="Text 3"/>
          <p:cNvSpPr/>
          <p:nvPr/>
        </p:nvSpPr>
        <p:spPr bwMode="auto">
          <a:xfrm>
            <a:off x="10515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Not a Silver Bullet</a:t>
            </a:r>
            <a:endParaRPr lang="en-US" sz="1600"/>
          </a:p>
        </p:txBody>
      </p:sp>
      <p:sp>
        <p:nvSpPr>
          <p:cNvPr id="1371200429" name="Text 4"/>
          <p:cNvSpPr/>
          <p:nvPr/>
        </p:nvSpPr>
        <p:spPr bwMode="auto">
          <a:xfrm>
            <a:off x="1051560" y="178308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E2E8F0"/>
                </a:solidFill>
                <a:latin typeface="Arial"/>
                <a:ea typeface="Arial"/>
                <a:cs typeface="Arial"/>
              </a:rPr>
              <a:t>These patterns detect known attack signatures. Zero-day and novel techniques may evade detection initially. This is defense in depth, not a complete solution.</a:t>
            </a:r>
            <a:endParaRPr lang="en-US" sz="1200"/>
          </a:p>
        </p:txBody>
      </p:sp>
      <p:pic>
        <p:nvPicPr>
          <p:cNvPr id="1937180183" name="Image 1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2606040"/>
            <a:ext cx="365760" cy="365760"/>
          </a:xfrm>
          <a:prstGeom prst="rect">
            <a:avLst/>
          </a:prstGeom>
        </p:spPr>
      </p:pic>
      <p:sp>
        <p:nvSpPr>
          <p:cNvPr id="638386169" name="Text 5"/>
          <p:cNvSpPr/>
          <p:nvPr/>
        </p:nvSpPr>
        <p:spPr bwMode="auto">
          <a:xfrm>
            <a:off x="105156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Setup Required</a:t>
            </a:r>
            <a:endParaRPr lang="en-US" sz="1600"/>
          </a:p>
        </p:txBody>
      </p:sp>
      <p:sp>
        <p:nvSpPr>
          <p:cNvPr id="1604236977" name="Text 6"/>
          <p:cNvSpPr/>
          <p:nvPr/>
        </p:nvSpPr>
        <p:spPr bwMode="auto">
          <a:xfrm>
            <a:off x="1051560" y="292608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E2E8F0"/>
                </a:solidFill>
                <a:latin typeface="Arial"/>
                <a:ea typeface="Arial"/>
                <a:cs typeface="Arial"/>
              </a:rPr>
              <a:t>Reconstruction error detection needs a trained autoencoder. Baselines must be calibrated per model. Plan for a tuning period.</a:t>
            </a:r>
            <a:endParaRPr lang="en-US" sz="1200"/>
          </a:p>
        </p:txBody>
      </p:sp>
      <p:pic>
        <p:nvPicPr>
          <p:cNvPr id="1379341425" name="Image 2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3749040"/>
            <a:ext cx="365760" cy="365760"/>
          </a:xfrm>
          <a:prstGeom prst="rect">
            <a:avLst/>
          </a:prstGeom>
        </p:spPr>
      </p:pic>
      <p:sp>
        <p:nvSpPr>
          <p:cNvPr id="284131170" name="Text 7"/>
          <p:cNvSpPr/>
          <p:nvPr/>
        </p:nvSpPr>
        <p:spPr bwMode="auto">
          <a:xfrm>
            <a:off x="105156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False Positives</a:t>
            </a:r>
            <a:endParaRPr lang="en-US" sz="1600"/>
          </a:p>
        </p:txBody>
      </p:sp>
      <p:sp>
        <p:nvSpPr>
          <p:cNvPr id="318768036" name="Text 8"/>
          <p:cNvSpPr/>
          <p:nvPr/>
        </p:nvSpPr>
        <p:spPr bwMode="auto">
          <a:xfrm>
            <a:off x="1051560" y="406908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E2E8F0"/>
                </a:solidFill>
                <a:latin typeface="Arial"/>
                <a:ea typeface="Arial"/>
                <a:cs typeface="Arial"/>
              </a:rPr>
              <a:t>Legitimate out-of-distribution data may trigger alerts. Tune thresholds for your specific use case. Start with high thresholds and lower gradually.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4789963" name="Shape 0"/>
          <p:cNvSpPr/>
          <p:nvPr/>
        </p:nvSpPr>
        <p:spPr bwMode="auto">
          <a:xfrm>
            <a:off x="0" y="0"/>
            <a:ext cx="73152" cy="5143500"/>
          </a:xfrm>
          <a:prstGeom prst="lin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895718758" name="Text 1"/>
          <p:cNvSpPr/>
          <p:nvPr/>
        </p:nvSpPr>
        <p:spPr bwMode="auto">
          <a:xfrm>
            <a:off x="54864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200">
                <a:solidFill>
                  <a:srgbClr val="E2E8F0"/>
                </a:solidFill>
                <a:latin typeface="Arial"/>
                <a:ea typeface="Arial"/>
                <a:cs typeface="Arial"/>
              </a:rPr>
              <a:t>Your AI model is an attack surface.</a:t>
            </a:r>
            <a:endParaRPr lang="en-US" sz="3200"/>
          </a:p>
        </p:txBody>
      </p:sp>
      <p:sp>
        <p:nvSpPr>
          <p:cNvPr id="1773945480" name="Text 2"/>
          <p:cNvSpPr/>
          <p:nvPr/>
        </p:nvSpPr>
        <p:spPr bwMode="auto">
          <a:xfrm>
            <a:off x="54864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4000" b="1">
                <a:solidFill>
                  <a:srgbClr val="3B82F6"/>
                </a:solidFill>
                <a:latin typeface="Arial Black"/>
                <a:ea typeface="Arial Black"/>
                <a:cs typeface="Arial Black"/>
              </a:rPr>
              <a:t>Monitor it like one.</a:t>
            </a:r>
            <a:endParaRPr lang="en-US" sz="4000"/>
          </a:p>
        </p:txBody>
      </p:sp>
      <p:sp>
        <p:nvSpPr>
          <p:cNvPr id="59734757" name="Text 3"/>
          <p:cNvSpPr/>
          <p:nvPr/>
        </p:nvSpPr>
        <p:spPr bwMode="auto">
          <a:xfrm>
            <a:off x="548640" y="32004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Samuel Desseaux</a:t>
            </a:r>
            <a:endParaRPr lang="en-US" sz="2000"/>
          </a:p>
        </p:txBody>
      </p:sp>
      <p:sp>
        <p:nvSpPr>
          <p:cNvPr id="410663373" name="Text 4"/>
          <p:cNvSpPr/>
          <p:nvPr/>
        </p:nvSpPr>
        <p:spPr bwMode="auto">
          <a:xfrm>
            <a:off x="548640" y="3611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94A3B8"/>
                </a:solidFill>
                <a:latin typeface="Arial"/>
                <a:ea typeface="Arial"/>
                <a:cs typeface="Arial"/>
              </a:rPr>
              <a:t>Founder &amp; CTO  ·  Erythix (FR) </a:t>
            </a:r>
            <a:endParaRPr lang="en-US" sz="1300"/>
          </a:p>
        </p:txBody>
      </p:sp>
      <p:pic>
        <p:nvPicPr>
          <p:cNvPr id="108791573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4206240"/>
            <a:ext cx="320040" cy="320040"/>
          </a:xfrm>
          <a:prstGeom prst="rect">
            <a:avLst/>
          </a:prstGeom>
        </p:spPr>
      </p:pic>
      <p:sp>
        <p:nvSpPr>
          <p:cNvPr id="322100739" name="Text 5"/>
          <p:cNvSpPr/>
          <p:nvPr/>
        </p:nvSpPr>
        <p:spPr bwMode="auto">
          <a:xfrm>
            <a:off x="960120" y="4206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E2E8F0"/>
                </a:solidFill>
                <a:latin typeface="Arial"/>
                <a:ea typeface="Arial"/>
                <a:cs typeface="Arial"/>
              </a:rPr>
              <a:t>github.com/erythix4/</a:t>
            </a:r>
            <a:r>
              <a:rPr lang="en-US" sz="1200">
                <a:solidFill>
                  <a:srgbClr val="E2E8F0"/>
                </a:solidFill>
                <a:latin typeface="Arial"/>
                <a:ea typeface="Arial"/>
                <a:cs typeface="Arial"/>
              </a:rPr>
              <a:t>iattack</a:t>
            </a:r>
            <a:endParaRPr lang="en-US" sz="1200"/>
          </a:p>
        </p:txBody>
      </p:sp>
      <p:pic>
        <p:nvPicPr>
          <p:cNvPr id="2089509709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48640" y="4617720"/>
            <a:ext cx="320040" cy="320040"/>
          </a:xfrm>
          <a:prstGeom prst="rect">
            <a:avLst/>
          </a:prstGeom>
        </p:spPr>
      </p:pic>
      <p:sp>
        <p:nvSpPr>
          <p:cNvPr id="699610346" name="Text 6"/>
          <p:cNvSpPr/>
          <p:nvPr/>
        </p:nvSpPr>
        <p:spPr bwMode="auto">
          <a:xfrm>
            <a:off x="960120" y="4617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E2E8F0"/>
                </a:solidFill>
                <a:latin typeface="Arial"/>
                <a:ea typeface="Arial"/>
                <a:cs typeface="Arial"/>
              </a:rPr>
              <a:t>erythix.tech</a:t>
            </a:r>
            <a:endParaRPr lang="en-US" sz="1200"/>
          </a:p>
        </p:txBody>
      </p:sp>
      <p:sp>
        <p:nvSpPr>
          <p:cNvPr id="722687412" name="Text 7"/>
          <p:cNvSpPr/>
          <p:nvPr/>
        </p:nvSpPr>
        <p:spPr bwMode="auto">
          <a:xfrm>
            <a:off x="3200399" y="4617720"/>
            <a:ext cx="282125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/>
            </a:pPr>
            <a:r>
              <a:rPr lang="en-US" sz="1200">
                <a:solidFill>
                  <a:srgbClr val="E2E8F0"/>
                </a:solidFill>
                <a:latin typeface="Arial"/>
                <a:ea typeface="Arial"/>
                <a:cs typeface="Arial"/>
              </a:rPr>
              <a:t>https://</a:t>
            </a:r>
            <a:r>
              <a:rPr lang="en-US" sz="1200">
                <a:solidFill>
                  <a:srgbClr val="E2E8F0"/>
                </a:solidFill>
                <a:latin typeface="Arial"/>
                <a:ea typeface="Arial"/>
                <a:cs typeface="Arial"/>
              </a:rPr>
              <a:t>www.linkedin.com</a:t>
            </a:r>
            <a:r>
              <a:rPr lang="en-US" sz="1200">
                <a:solidFill>
                  <a:srgbClr val="E2E8F0"/>
                </a:solidFill>
                <a:latin typeface="Arial"/>
                <a:ea typeface="Arial"/>
                <a:cs typeface="Arial"/>
              </a:rPr>
              <a:t>/in/</a:t>
            </a:r>
            <a:r>
              <a:rPr lang="en-US" sz="1200">
                <a:solidFill>
                  <a:srgbClr val="E2E8F0"/>
                </a:solidFill>
                <a:latin typeface="Arial"/>
                <a:ea typeface="Arial"/>
                <a:cs typeface="Arial"/>
              </a:rPr>
              <a:t>sdesseaux</a:t>
            </a:r>
            <a:r>
              <a:rPr lang="en-US" sz="1200">
                <a:solidFill>
                  <a:srgbClr val="E2E8F0"/>
                </a:solidFill>
                <a:latin typeface="Arial"/>
                <a:ea typeface="Arial"/>
                <a:cs typeface="Arial"/>
              </a:rPr>
              <a:t>/</a:t>
            </a:r>
            <a:endParaRPr lang="en-US" sz="1200"/>
          </a:p>
        </p:txBody>
      </p:sp>
      <p:sp>
        <p:nvSpPr>
          <p:cNvPr id="903598609" name="Text 8"/>
          <p:cNvSpPr/>
          <p:nvPr/>
        </p:nvSpPr>
        <p:spPr bwMode="auto">
          <a:xfrm>
            <a:off x="5486400" y="4389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400" b="1">
                <a:solidFill>
                  <a:srgbClr val="3B82F6"/>
                </a:solidFill>
                <a:latin typeface="Arial"/>
                <a:ea typeface="Arial"/>
                <a:cs typeface="Arial"/>
              </a:rPr>
              <a:t>Questions? Let's discuss AI security!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onlyoffice/9.2.1.8</Application>
  <PresentationFormat>On-screen Show (4:3)</PresentationFormat>
  <Paragraphs>0</Paragraphs>
  <Slides>24</Slides>
  <Notes>24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Security Monitoring - FOSDEM 2026</dc:title>
  <dc:subject>PptxGenJS Presentation</dc:subject>
  <dc:creator>Samuel Desseaux</dc:creator>
  <cp:lastModifiedBy>Anonymous</cp:lastModifiedBy>
  <cp:revision>13</cp:revision>
  <dcterms:created xsi:type="dcterms:W3CDTF">2026-01-30T13:37:05Z</dcterms:created>
  <dcterms:modified xsi:type="dcterms:W3CDTF">2026-03-07T08:00:21Z</dcterms:modified>
</cp:coreProperties>
</file>